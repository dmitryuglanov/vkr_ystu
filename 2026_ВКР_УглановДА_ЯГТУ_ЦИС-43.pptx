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0071100" cy="7569200"/>
  <p:notesSz cx="10071100" cy="75692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7560254"/>
            <a:ext cx="10071100" cy="0"/>
          </a:xfrm>
          <a:custGeom>
            <a:avLst/>
            <a:gdLst/>
            <a:ahLst/>
            <a:cxnLst/>
            <a:rect l="l" t="t" r="r" b="b"/>
            <a:pathLst>
              <a:path w="10071100" h="0">
                <a:moveTo>
                  <a:pt x="0" y="0"/>
                </a:moveTo>
                <a:lnTo>
                  <a:pt x="10070592" y="0"/>
                </a:lnTo>
              </a:path>
            </a:pathLst>
          </a:custGeom>
          <a:ln w="6096">
            <a:solidFill>
              <a:srgbClr val="E7E7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-55"/>
            <a:ext cx="10071100" cy="0"/>
          </a:xfrm>
          <a:custGeom>
            <a:avLst/>
            <a:gdLst/>
            <a:ahLst/>
            <a:cxnLst/>
            <a:rect l="l" t="t" r="r" b="b"/>
            <a:pathLst>
              <a:path w="10071100" h="0">
                <a:moveTo>
                  <a:pt x="10070592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E7E7E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7675" y="6719316"/>
            <a:ext cx="932688" cy="44195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858012" y="7071359"/>
            <a:ext cx="269875" cy="99060"/>
          </a:xfrm>
          <a:custGeom>
            <a:avLst/>
            <a:gdLst/>
            <a:ahLst/>
            <a:cxnLst/>
            <a:rect l="l" t="t" r="r" b="b"/>
            <a:pathLst>
              <a:path w="269875" h="99059">
                <a:moveTo>
                  <a:pt x="269316" y="0"/>
                </a:moveTo>
                <a:lnTo>
                  <a:pt x="0" y="0"/>
                </a:lnTo>
                <a:lnTo>
                  <a:pt x="0" y="98437"/>
                </a:lnTo>
                <a:lnTo>
                  <a:pt x="139801" y="98437"/>
                </a:lnTo>
                <a:lnTo>
                  <a:pt x="183756" y="91046"/>
                </a:lnTo>
                <a:lnTo>
                  <a:pt x="221640" y="70497"/>
                </a:lnTo>
                <a:lnTo>
                  <a:pt x="250977" y="39319"/>
                </a:lnTo>
                <a:lnTo>
                  <a:pt x="269316" y="0"/>
                </a:lnTo>
                <a:close/>
              </a:path>
            </a:pathLst>
          </a:custGeom>
          <a:solidFill>
            <a:srgbClr val="EB71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685800" y="6726935"/>
            <a:ext cx="441959" cy="443865"/>
          </a:xfrm>
          <a:custGeom>
            <a:avLst/>
            <a:gdLst/>
            <a:ahLst/>
            <a:cxnLst/>
            <a:rect l="l" t="t" r="r" b="b"/>
            <a:pathLst>
              <a:path w="441959" h="443865">
                <a:moveTo>
                  <a:pt x="441718" y="0"/>
                </a:moveTo>
                <a:lnTo>
                  <a:pt x="134962" y="0"/>
                </a:lnTo>
                <a:lnTo>
                  <a:pt x="92316" y="6908"/>
                </a:lnTo>
                <a:lnTo>
                  <a:pt x="55257" y="26136"/>
                </a:lnTo>
                <a:lnTo>
                  <a:pt x="26047" y="55448"/>
                </a:lnTo>
                <a:lnTo>
                  <a:pt x="6883" y="92633"/>
                </a:lnTo>
                <a:lnTo>
                  <a:pt x="0" y="135432"/>
                </a:lnTo>
                <a:lnTo>
                  <a:pt x="2070" y="159435"/>
                </a:lnTo>
                <a:lnTo>
                  <a:pt x="8089" y="182029"/>
                </a:lnTo>
                <a:lnTo>
                  <a:pt x="17729" y="202882"/>
                </a:lnTo>
                <a:lnTo>
                  <a:pt x="30670" y="221614"/>
                </a:lnTo>
                <a:lnTo>
                  <a:pt x="17754" y="240360"/>
                </a:lnTo>
                <a:lnTo>
                  <a:pt x="8115" y="261226"/>
                </a:lnTo>
                <a:lnTo>
                  <a:pt x="2082" y="283832"/>
                </a:lnTo>
                <a:lnTo>
                  <a:pt x="0" y="307809"/>
                </a:lnTo>
                <a:lnTo>
                  <a:pt x="0" y="443242"/>
                </a:lnTo>
                <a:lnTo>
                  <a:pt x="98158" y="443242"/>
                </a:lnTo>
                <a:lnTo>
                  <a:pt x="98158" y="307809"/>
                </a:lnTo>
                <a:lnTo>
                  <a:pt x="101053" y="293433"/>
                </a:lnTo>
                <a:lnTo>
                  <a:pt x="108940" y="281685"/>
                </a:lnTo>
                <a:lnTo>
                  <a:pt x="120637" y="273773"/>
                </a:lnTo>
                <a:lnTo>
                  <a:pt x="134962" y="270865"/>
                </a:lnTo>
                <a:lnTo>
                  <a:pt x="441718" y="270865"/>
                </a:lnTo>
                <a:lnTo>
                  <a:pt x="441718" y="172377"/>
                </a:lnTo>
                <a:lnTo>
                  <a:pt x="134962" y="172377"/>
                </a:lnTo>
                <a:lnTo>
                  <a:pt x="120637" y="169468"/>
                </a:lnTo>
                <a:lnTo>
                  <a:pt x="108940" y="161556"/>
                </a:lnTo>
                <a:lnTo>
                  <a:pt x="101053" y="149809"/>
                </a:lnTo>
                <a:lnTo>
                  <a:pt x="98158" y="135432"/>
                </a:lnTo>
                <a:lnTo>
                  <a:pt x="101053" y="121056"/>
                </a:lnTo>
                <a:lnTo>
                  <a:pt x="108940" y="109321"/>
                </a:lnTo>
                <a:lnTo>
                  <a:pt x="120637" y="101396"/>
                </a:lnTo>
                <a:lnTo>
                  <a:pt x="134962" y="98501"/>
                </a:lnTo>
                <a:lnTo>
                  <a:pt x="441718" y="98501"/>
                </a:lnTo>
                <a:lnTo>
                  <a:pt x="441718" y="0"/>
                </a:lnTo>
                <a:close/>
              </a:path>
            </a:pathLst>
          </a:custGeom>
          <a:solidFill>
            <a:srgbClr val="0941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75665" y="6464046"/>
            <a:ext cx="4766945" cy="0"/>
          </a:xfrm>
          <a:custGeom>
            <a:avLst/>
            <a:gdLst/>
            <a:ahLst/>
            <a:cxnLst/>
            <a:rect l="l" t="t" r="r" b="b"/>
            <a:pathLst>
              <a:path w="4766945" h="0">
                <a:moveTo>
                  <a:pt x="0" y="0"/>
                </a:moveTo>
                <a:lnTo>
                  <a:pt x="4766691" y="0"/>
                </a:lnTo>
              </a:path>
            </a:pathLst>
          </a:custGeom>
          <a:ln w="7620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496057" y="200659"/>
            <a:ext cx="529145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10665" y="4238752"/>
            <a:ext cx="7049770" cy="1892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91770">
              <a:lnSpc>
                <a:spcPts val="238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91770">
              <a:lnSpc>
                <a:spcPts val="238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3555" y="1740916"/>
            <a:ext cx="4380928" cy="49956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6616" y="1740916"/>
            <a:ext cx="4380928" cy="49956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91770">
              <a:lnSpc>
                <a:spcPts val="238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91770">
              <a:lnSpc>
                <a:spcPts val="238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91770">
              <a:lnSpc>
                <a:spcPts val="238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7560254"/>
            <a:ext cx="10071100" cy="0"/>
          </a:xfrm>
          <a:custGeom>
            <a:avLst/>
            <a:gdLst/>
            <a:ahLst/>
            <a:cxnLst/>
            <a:rect l="l" t="t" r="r" b="b"/>
            <a:pathLst>
              <a:path w="10071100" h="0">
                <a:moveTo>
                  <a:pt x="0" y="0"/>
                </a:moveTo>
                <a:lnTo>
                  <a:pt x="10070592" y="0"/>
                </a:lnTo>
              </a:path>
            </a:pathLst>
          </a:custGeom>
          <a:ln w="6096">
            <a:solidFill>
              <a:srgbClr val="E7E7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-55"/>
            <a:ext cx="10071100" cy="0"/>
          </a:xfrm>
          <a:custGeom>
            <a:avLst/>
            <a:gdLst/>
            <a:ahLst/>
            <a:cxnLst/>
            <a:rect l="l" t="t" r="r" b="b"/>
            <a:pathLst>
              <a:path w="10071100" h="0">
                <a:moveTo>
                  <a:pt x="10070592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E7E7E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17675" y="6719316"/>
            <a:ext cx="932688" cy="44195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858012" y="7071359"/>
            <a:ext cx="269875" cy="99060"/>
          </a:xfrm>
          <a:custGeom>
            <a:avLst/>
            <a:gdLst/>
            <a:ahLst/>
            <a:cxnLst/>
            <a:rect l="l" t="t" r="r" b="b"/>
            <a:pathLst>
              <a:path w="269875" h="99059">
                <a:moveTo>
                  <a:pt x="269316" y="0"/>
                </a:moveTo>
                <a:lnTo>
                  <a:pt x="0" y="0"/>
                </a:lnTo>
                <a:lnTo>
                  <a:pt x="0" y="98437"/>
                </a:lnTo>
                <a:lnTo>
                  <a:pt x="139801" y="98437"/>
                </a:lnTo>
                <a:lnTo>
                  <a:pt x="183756" y="91046"/>
                </a:lnTo>
                <a:lnTo>
                  <a:pt x="221640" y="70497"/>
                </a:lnTo>
                <a:lnTo>
                  <a:pt x="250977" y="39319"/>
                </a:lnTo>
                <a:lnTo>
                  <a:pt x="269316" y="0"/>
                </a:lnTo>
                <a:close/>
              </a:path>
            </a:pathLst>
          </a:custGeom>
          <a:solidFill>
            <a:srgbClr val="EB71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685800" y="6726935"/>
            <a:ext cx="441959" cy="443865"/>
          </a:xfrm>
          <a:custGeom>
            <a:avLst/>
            <a:gdLst/>
            <a:ahLst/>
            <a:cxnLst/>
            <a:rect l="l" t="t" r="r" b="b"/>
            <a:pathLst>
              <a:path w="441959" h="443865">
                <a:moveTo>
                  <a:pt x="441718" y="0"/>
                </a:moveTo>
                <a:lnTo>
                  <a:pt x="134962" y="0"/>
                </a:lnTo>
                <a:lnTo>
                  <a:pt x="92316" y="6908"/>
                </a:lnTo>
                <a:lnTo>
                  <a:pt x="55257" y="26136"/>
                </a:lnTo>
                <a:lnTo>
                  <a:pt x="26047" y="55448"/>
                </a:lnTo>
                <a:lnTo>
                  <a:pt x="6883" y="92633"/>
                </a:lnTo>
                <a:lnTo>
                  <a:pt x="0" y="135432"/>
                </a:lnTo>
                <a:lnTo>
                  <a:pt x="2070" y="159435"/>
                </a:lnTo>
                <a:lnTo>
                  <a:pt x="8089" y="182029"/>
                </a:lnTo>
                <a:lnTo>
                  <a:pt x="17729" y="202882"/>
                </a:lnTo>
                <a:lnTo>
                  <a:pt x="30670" y="221614"/>
                </a:lnTo>
                <a:lnTo>
                  <a:pt x="17754" y="240360"/>
                </a:lnTo>
                <a:lnTo>
                  <a:pt x="8115" y="261226"/>
                </a:lnTo>
                <a:lnTo>
                  <a:pt x="2082" y="283832"/>
                </a:lnTo>
                <a:lnTo>
                  <a:pt x="0" y="307809"/>
                </a:lnTo>
                <a:lnTo>
                  <a:pt x="0" y="443242"/>
                </a:lnTo>
                <a:lnTo>
                  <a:pt x="98158" y="443242"/>
                </a:lnTo>
                <a:lnTo>
                  <a:pt x="98158" y="307809"/>
                </a:lnTo>
                <a:lnTo>
                  <a:pt x="101053" y="293433"/>
                </a:lnTo>
                <a:lnTo>
                  <a:pt x="108940" y="281685"/>
                </a:lnTo>
                <a:lnTo>
                  <a:pt x="120637" y="273773"/>
                </a:lnTo>
                <a:lnTo>
                  <a:pt x="134962" y="270865"/>
                </a:lnTo>
                <a:lnTo>
                  <a:pt x="441718" y="270865"/>
                </a:lnTo>
                <a:lnTo>
                  <a:pt x="441718" y="172377"/>
                </a:lnTo>
                <a:lnTo>
                  <a:pt x="134962" y="172377"/>
                </a:lnTo>
                <a:lnTo>
                  <a:pt x="120637" y="169468"/>
                </a:lnTo>
                <a:lnTo>
                  <a:pt x="108940" y="161556"/>
                </a:lnTo>
                <a:lnTo>
                  <a:pt x="101053" y="149809"/>
                </a:lnTo>
                <a:lnTo>
                  <a:pt x="98158" y="135432"/>
                </a:lnTo>
                <a:lnTo>
                  <a:pt x="101053" y="121056"/>
                </a:lnTo>
                <a:lnTo>
                  <a:pt x="108940" y="109321"/>
                </a:lnTo>
                <a:lnTo>
                  <a:pt x="120637" y="101396"/>
                </a:lnTo>
                <a:lnTo>
                  <a:pt x="134962" y="98501"/>
                </a:lnTo>
                <a:lnTo>
                  <a:pt x="441718" y="98501"/>
                </a:lnTo>
                <a:lnTo>
                  <a:pt x="441718" y="0"/>
                </a:lnTo>
                <a:close/>
              </a:path>
            </a:pathLst>
          </a:custGeom>
          <a:solidFill>
            <a:srgbClr val="0941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34085" y="58039"/>
            <a:ext cx="8948826" cy="14131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600700" y="2184526"/>
            <a:ext cx="4490084" cy="48806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24174" y="7039356"/>
            <a:ext cx="3222752" cy="378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3555" y="7039356"/>
            <a:ext cx="2316353" cy="378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9229090" y="7078471"/>
            <a:ext cx="397763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91770">
              <a:lnSpc>
                <a:spcPts val="238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jpg"/><Relationship Id="rId6" Type="http://schemas.openxmlformats.org/officeDocument/2006/relationships/image" Target="../media/image12.jpg"/><Relationship Id="rId7" Type="http://schemas.openxmlformats.org/officeDocument/2006/relationships/image" Target="../media/image13.jpg"/><Relationship Id="rId8" Type="http://schemas.openxmlformats.org/officeDocument/2006/relationships/image" Target="../media/image14.png"/><Relationship Id="rId9" Type="http://schemas.openxmlformats.org/officeDocument/2006/relationships/image" Target="../media/image1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053828" cy="755903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09040" y="1921509"/>
            <a:ext cx="8386445" cy="2220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170815" marR="160655">
              <a:lnSpc>
                <a:spcPct val="100000"/>
              </a:lnSpc>
              <a:spcBef>
                <a:spcPts val="100"/>
              </a:spcBef>
            </a:pPr>
            <a:r>
              <a:rPr dirty="0" sz="3600" spc="-10"/>
              <a:t>Выпускная</a:t>
            </a:r>
            <a:r>
              <a:rPr dirty="0" sz="3600" spc="-150"/>
              <a:t> </a:t>
            </a:r>
            <a:r>
              <a:rPr dirty="0" sz="3600" spc="-20"/>
              <a:t>квалификационная</a:t>
            </a:r>
            <a:r>
              <a:rPr dirty="0" sz="3600" spc="-145"/>
              <a:t> </a:t>
            </a:r>
            <a:r>
              <a:rPr dirty="0" sz="3600" spc="-10"/>
              <a:t>работа </a:t>
            </a:r>
            <a:r>
              <a:rPr dirty="0" sz="3600"/>
              <a:t>Тема:</a:t>
            </a:r>
            <a:r>
              <a:rPr dirty="0" sz="3600" spc="-150"/>
              <a:t> </a:t>
            </a:r>
            <a:r>
              <a:rPr dirty="0" sz="3600" spc="-20"/>
              <a:t>«Компьютерное</a:t>
            </a:r>
            <a:r>
              <a:rPr dirty="0" sz="3600" spc="-180"/>
              <a:t> </a:t>
            </a:r>
            <a:r>
              <a:rPr dirty="0" sz="3600" spc="-10"/>
              <a:t>моделирование</a:t>
            </a:r>
            <a:endParaRPr sz="3600"/>
          </a:p>
          <a:p>
            <a:pPr algn="ctr" marL="12065" marR="5080">
              <a:lnSpc>
                <a:spcPct val="100000"/>
              </a:lnSpc>
            </a:pPr>
            <a:r>
              <a:rPr dirty="0" sz="3600"/>
              <a:t>процессов</a:t>
            </a:r>
            <a:r>
              <a:rPr dirty="0" sz="3600" spc="-135"/>
              <a:t> </a:t>
            </a:r>
            <a:r>
              <a:rPr dirty="0" sz="3600" spc="-10"/>
              <a:t>деградации</a:t>
            </a:r>
            <a:r>
              <a:rPr dirty="0" sz="3600" spc="-125"/>
              <a:t> </a:t>
            </a:r>
            <a:r>
              <a:rPr dirty="0" sz="3600"/>
              <a:t>и</a:t>
            </a:r>
            <a:r>
              <a:rPr dirty="0" sz="3600" spc="-114"/>
              <a:t> </a:t>
            </a:r>
            <a:r>
              <a:rPr dirty="0" sz="3600" spc="-10"/>
              <a:t>восстановления </a:t>
            </a:r>
            <a:r>
              <a:rPr dirty="0" sz="3600"/>
              <a:t>защитных</a:t>
            </a:r>
            <a:r>
              <a:rPr dirty="0" sz="3600" spc="-35"/>
              <a:t> </a:t>
            </a:r>
            <a:r>
              <a:rPr dirty="0" sz="3600"/>
              <a:t>покрытий</a:t>
            </a:r>
            <a:r>
              <a:rPr dirty="0" sz="3600" spc="-20"/>
              <a:t> </a:t>
            </a:r>
            <a:r>
              <a:rPr dirty="0" sz="3600" spc="-10"/>
              <a:t>деталей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2089530" y="4116146"/>
            <a:ext cx="582803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FFFFFF"/>
                </a:solidFill>
                <a:latin typeface="Times New Roman"/>
                <a:cs typeface="Times New Roman"/>
              </a:rPr>
              <a:t>газотурбинных</a:t>
            </a:r>
            <a:r>
              <a:rPr dirty="0" sz="3600" spc="-20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 spc="-10" b="1">
                <a:solidFill>
                  <a:srgbClr val="FFFFFF"/>
                </a:solidFill>
                <a:latin typeface="Times New Roman"/>
                <a:cs typeface="Times New Roman"/>
              </a:rPr>
              <a:t>двигателей»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1692" y="5625160"/>
            <a:ext cx="2999105" cy="8794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spc="-30">
                <a:solidFill>
                  <a:srgbClr val="FFFFFF"/>
                </a:solidFill>
                <a:latin typeface="Times New Roman"/>
                <a:cs typeface="Times New Roman"/>
              </a:rPr>
              <a:t>Руководитель,</a:t>
            </a:r>
            <a:r>
              <a:rPr dirty="0" sz="28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20">
                <a:solidFill>
                  <a:srgbClr val="FFFFFF"/>
                </a:solidFill>
                <a:latin typeface="Times New Roman"/>
                <a:cs typeface="Times New Roman"/>
              </a:rPr>
              <a:t>PhD: </a:t>
            </a:r>
            <a:r>
              <a:rPr dirty="0" sz="2800" spc="-10">
                <a:solidFill>
                  <a:srgbClr val="FFFFFF"/>
                </a:solidFill>
                <a:latin typeface="Times New Roman"/>
                <a:cs typeface="Times New Roman"/>
              </a:rPr>
              <a:t>Ванпетегем</a:t>
            </a:r>
            <a:r>
              <a:rPr dirty="0" sz="2800" spc="-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20">
                <a:solidFill>
                  <a:srgbClr val="FFFFFF"/>
                </a:solidFill>
                <a:latin typeface="Times New Roman"/>
                <a:cs typeface="Times New Roman"/>
              </a:rPr>
              <a:t>Д.А.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14400" y="684275"/>
            <a:ext cx="3314700" cy="1017905"/>
            <a:chOff x="914400" y="684275"/>
            <a:chExt cx="3314700" cy="101790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1408" y="684275"/>
              <a:ext cx="2107692" cy="99974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304543" y="1479803"/>
              <a:ext cx="612140" cy="222250"/>
            </a:xfrm>
            <a:custGeom>
              <a:avLst/>
              <a:gdLst/>
              <a:ahLst/>
              <a:cxnLst/>
              <a:rect l="l" t="t" r="r" b="b"/>
              <a:pathLst>
                <a:path w="612139" h="222250">
                  <a:moveTo>
                    <a:pt x="612139" y="0"/>
                  </a:moveTo>
                  <a:lnTo>
                    <a:pt x="0" y="0"/>
                  </a:lnTo>
                  <a:lnTo>
                    <a:pt x="0" y="222250"/>
                  </a:lnTo>
                  <a:lnTo>
                    <a:pt x="317753" y="222250"/>
                  </a:lnTo>
                  <a:lnTo>
                    <a:pt x="369062" y="217932"/>
                  </a:lnTo>
                  <a:lnTo>
                    <a:pt x="417703" y="205486"/>
                  </a:lnTo>
                  <a:lnTo>
                    <a:pt x="462788" y="185674"/>
                  </a:lnTo>
                  <a:lnTo>
                    <a:pt x="503808" y="159131"/>
                  </a:lnTo>
                  <a:lnTo>
                    <a:pt x="539876" y="126619"/>
                  </a:lnTo>
                  <a:lnTo>
                    <a:pt x="570483" y="88773"/>
                  </a:lnTo>
                  <a:lnTo>
                    <a:pt x="594741" y="46355"/>
                  </a:lnTo>
                  <a:lnTo>
                    <a:pt x="612139" y="0"/>
                  </a:lnTo>
                  <a:close/>
                </a:path>
              </a:pathLst>
            </a:custGeom>
            <a:solidFill>
              <a:srgbClr val="EB71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914400" y="701039"/>
              <a:ext cx="1001394" cy="1001394"/>
            </a:xfrm>
            <a:custGeom>
              <a:avLst/>
              <a:gdLst/>
              <a:ahLst/>
              <a:cxnLst/>
              <a:rect l="l" t="t" r="r" b="b"/>
              <a:pathLst>
                <a:path w="1001394" h="1001394">
                  <a:moveTo>
                    <a:pt x="1001141" y="0"/>
                  </a:moveTo>
                  <a:lnTo>
                    <a:pt x="305904" y="0"/>
                  </a:lnTo>
                  <a:lnTo>
                    <a:pt x="256286" y="4064"/>
                  </a:lnTo>
                  <a:lnTo>
                    <a:pt x="209219" y="15621"/>
                  </a:lnTo>
                  <a:lnTo>
                    <a:pt x="165341" y="34163"/>
                  </a:lnTo>
                  <a:lnTo>
                    <a:pt x="125247" y="59054"/>
                  </a:lnTo>
                  <a:lnTo>
                    <a:pt x="89611" y="89662"/>
                  </a:lnTo>
                  <a:lnTo>
                    <a:pt x="59029" y="125222"/>
                  </a:lnTo>
                  <a:lnTo>
                    <a:pt x="34150" y="165353"/>
                  </a:lnTo>
                  <a:lnTo>
                    <a:pt x="15595" y="209169"/>
                  </a:lnTo>
                  <a:lnTo>
                    <a:pt x="4000" y="256286"/>
                  </a:lnTo>
                  <a:lnTo>
                    <a:pt x="0" y="305943"/>
                  </a:lnTo>
                  <a:lnTo>
                    <a:pt x="4699" y="360172"/>
                  </a:lnTo>
                  <a:lnTo>
                    <a:pt x="18338" y="411099"/>
                  </a:lnTo>
                  <a:lnTo>
                    <a:pt x="40182" y="458216"/>
                  </a:lnTo>
                  <a:lnTo>
                    <a:pt x="69519" y="500634"/>
                  </a:lnTo>
                  <a:lnTo>
                    <a:pt x="40246" y="542925"/>
                  </a:lnTo>
                  <a:lnTo>
                    <a:pt x="18389" y="590042"/>
                  </a:lnTo>
                  <a:lnTo>
                    <a:pt x="4724" y="641096"/>
                  </a:lnTo>
                  <a:lnTo>
                    <a:pt x="0" y="695198"/>
                  </a:lnTo>
                  <a:lnTo>
                    <a:pt x="0" y="1001141"/>
                  </a:lnTo>
                  <a:lnTo>
                    <a:pt x="222478" y="1001141"/>
                  </a:lnTo>
                  <a:lnTo>
                    <a:pt x="222478" y="695198"/>
                  </a:lnTo>
                  <a:lnTo>
                    <a:pt x="229031" y="662813"/>
                  </a:lnTo>
                  <a:lnTo>
                    <a:pt x="246913" y="636270"/>
                  </a:lnTo>
                  <a:lnTo>
                    <a:pt x="273431" y="618363"/>
                  </a:lnTo>
                  <a:lnTo>
                    <a:pt x="305904" y="611759"/>
                  </a:lnTo>
                  <a:lnTo>
                    <a:pt x="1001141" y="611759"/>
                  </a:lnTo>
                  <a:lnTo>
                    <a:pt x="1001141" y="389382"/>
                  </a:lnTo>
                  <a:lnTo>
                    <a:pt x="305904" y="389382"/>
                  </a:lnTo>
                  <a:lnTo>
                    <a:pt x="273431" y="382777"/>
                  </a:lnTo>
                  <a:lnTo>
                    <a:pt x="246913" y="364871"/>
                  </a:lnTo>
                  <a:lnTo>
                    <a:pt x="229031" y="338327"/>
                  </a:lnTo>
                  <a:lnTo>
                    <a:pt x="222478" y="305943"/>
                  </a:lnTo>
                  <a:lnTo>
                    <a:pt x="229031" y="273430"/>
                  </a:lnTo>
                  <a:lnTo>
                    <a:pt x="246913" y="246888"/>
                  </a:lnTo>
                  <a:lnTo>
                    <a:pt x="273431" y="228980"/>
                  </a:lnTo>
                  <a:lnTo>
                    <a:pt x="305904" y="222503"/>
                  </a:lnTo>
                  <a:lnTo>
                    <a:pt x="1001141" y="222503"/>
                  </a:lnTo>
                  <a:lnTo>
                    <a:pt x="10011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5583682" y="5609970"/>
            <a:ext cx="3063240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spc="-30">
                <a:solidFill>
                  <a:srgbClr val="FFFFFF"/>
                </a:solidFill>
                <a:latin typeface="Times New Roman"/>
                <a:cs typeface="Times New Roman"/>
              </a:rPr>
              <a:t>Студент</a:t>
            </a:r>
            <a:r>
              <a:rPr dirty="0" sz="28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FFFFFF"/>
                </a:solidFill>
                <a:latin typeface="Times New Roman"/>
                <a:cs typeface="Times New Roman"/>
              </a:rPr>
              <a:t>гр.</a:t>
            </a:r>
            <a:r>
              <a:rPr dirty="0" sz="28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30">
                <a:solidFill>
                  <a:srgbClr val="FFFFFF"/>
                </a:solidFill>
                <a:latin typeface="Times New Roman"/>
                <a:cs typeface="Times New Roman"/>
              </a:rPr>
              <a:t>ЦИС-</a:t>
            </a:r>
            <a:r>
              <a:rPr dirty="0" sz="2800" spc="-25">
                <a:solidFill>
                  <a:srgbClr val="FFFFFF"/>
                </a:solidFill>
                <a:latin typeface="Times New Roman"/>
                <a:cs typeface="Times New Roman"/>
              </a:rPr>
              <a:t>43 </a:t>
            </a:r>
            <a:r>
              <a:rPr dirty="0" sz="2800" spc="-55">
                <a:solidFill>
                  <a:srgbClr val="FFFFFF"/>
                </a:solidFill>
                <a:latin typeface="Times New Roman"/>
                <a:cs typeface="Times New Roman"/>
              </a:rPr>
              <a:t>Угланов</a:t>
            </a:r>
            <a:r>
              <a:rPr dirty="0" sz="2800" spc="-1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20">
                <a:solidFill>
                  <a:srgbClr val="FFFFFF"/>
                </a:solidFill>
                <a:latin typeface="Times New Roman"/>
                <a:cs typeface="Times New Roman"/>
              </a:rPr>
              <a:t>Д.А.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5665" y="6464046"/>
            <a:ext cx="4766945" cy="0"/>
          </a:xfrm>
          <a:custGeom>
            <a:avLst/>
            <a:gdLst/>
            <a:ahLst/>
            <a:cxnLst/>
            <a:rect l="l" t="t" r="r" b="b"/>
            <a:pathLst>
              <a:path w="4766945" h="0">
                <a:moveTo>
                  <a:pt x="0" y="0"/>
                </a:moveTo>
                <a:lnTo>
                  <a:pt x="4766691" y="0"/>
                </a:lnTo>
              </a:path>
            </a:pathLst>
          </a:custGeom>
          <a:ln w="7620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956051" y="241757"/>
            <a:ext cx="4157979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000000"/>
                </a:solidFill>
              </a:rPr>
              <a:t>Актуальность</a:t>
            </a:r>
            <a:r>
              <a:rPr dirty="0" sz="3600" spc="-155">
                <a:solidFill>
                  <a:srgbClr val="000000"/>
                </a:solidFill>
              </a:rPr>
              <a:t> </a:t>
            </a:r>
            <a:r>
              <a:rPr dirty="0" sz="3600" spc="-20">
                <a:solidFill>
                  <a:srgbClr val="000000"/>
                </a:solidFill>
              </a:rPr>
              <a:t>темы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454253" y="1267409"/>
            <a:ext cx="5065395" cy="2221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59105">
              <a:lnSpc>
                <a:spcPct val="100000"/>
              </a:lnSpc>
              <a:spcBef>
                <a:spcPts val="100"/>
              </a:spcBef>
            </a:pPr>
            <a:r>
              <a:rPr dirty="0" u="sng" sz="24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Проблема:</a:t>
            </a:r>
            <a:endParaRPr sz="2400">
              <a:latin typeface="Times New Roman"/>
              <a:cs typeface="Times New Roman"/>
            </a:endParaRPr>
          </a:p>
          <a:p>
            <a:pPr algn="just" marL="12700" marR="5080" indent="446405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latin typeface="Times New Roman"/>
                <a:cs typeface="Times New Roman"/>
              </a:rPr>
              <a:t>Лопатки</a:t>
            </a:r>
            <a:r>
              <a:rPr dirty="0" sz="2400" spc="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ГТД</a:t>
            </a:r>
            <a:r>
              <a:rPr dirty="0" sz="2400" spc="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работают</a:t>
            </a:r>
            <a:r>
              <a:rPr dirty="0" sz="2400" spc="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в</a:t>
            </a:r>
            <a:r>
              <a:rPr dirty="0" sz="2400" spc="5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условиях </a:t>
            </a:r>
            <a:r>
              <a:rPr dirty="0" sz="2400">
                <a:latin typeface="Times New Roman"/>
                <a:cs typeface="Times New Roman"/>
              </a:rPr>
              <a:t>экстремальных</a:t>
            </a:r>
            <a:r>
              <a:rPr dirty="0" sz="2400" spc="520">
                <a:latin typeface="Times New Roman"/>
                <a:cs typeface="Times New Roman"/>
              </a:rPr>
              <a:t>    </a:t>
            </a:r>
            <a:r>
              <a:rPr dirty="0" sz="2400">
                <a:latin typeface="Times New Roman"/>
                <a:cs typeface="Times New Roman"/>
              </a:rPr>
              <a:t>температур</a:t>
            </a:r>
            <a:r>
              <a:rPr dirty="0" sz="2400" spc="520">
                <a:latin typeface="Times New Roman"/>
                <a:cs typeface="Times New Roman"/>
              </a:rPr>
              <a:t>    </a:t>
            </a:r>
            <a:r>
              <a:rPr dirty="0" sz="2400" spc="-25">
                <a:latin typeface="Times New Roman"/>
                <a:cs typeface="Times New Roman"/>
              </a:rPr>
              <a:t>(до </a:t>
            </a:r>
            <a:r>
              <a:rPr dirty="0" sz="2400">
                <a:latin typeface="Times New Roman"/>
                <a:cs typeface="Times New Roman"/>
              </a:rPr>
              <a:t>1650°С)</a:t>
            </a:r>
            <a:r>
              <a:rPr dirty="0" sz="2400" spc="37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и</a:t>
            </a:r>
            <a:r>
              <a:rPr dirty="0" sz="2400" spc="37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нагрузок,</a:t>
            </a:r>
            <a:r>
              <a:rPr dirty="0" sz="2400" spc="37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их</a:t>
            </a:r>
            <a:r>
              <a:rPr dirty="0" sz="2400" spc="375">
                <a:latin typeface="Times New Roman"/>
                <a:cs typeface="Times New Roman"/>
              </a:rPr>
              <a:t>  </a:t>
            </a:r>
            <a:r>
              <a:rPr dirty="0" sz="2400" spc="-10">
                <a:latin typeface="Times New Roman"/>
                <a:cs typeface="Times New Roman"/>
              </a:rPr>
              <a:t>защитные </a:t>
            </a:r>
            <a:r>
              <a:rPr dirty="0" sz="2400">
                <a:latin typeface="Times New Roman"/>
                <a:cs typeface="Times New Roman"/>
              </a:rPr>
              <a:t>покрытия</a:t>
            </a:r>
            <a:r>
              <a:rPr dirty="0" sz="2400" spc="509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интенсивно</a:t>
            </a:r>
            <a:r>
              <a:rPr dirty="0" sz="2400" spc="5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изнашиваются. </a:t>
            </a:r>
            <a:r>
              <a:rPr dirty="0" sz="2400" spc="-25">
                <a:latin typeface="Times New Roman"/>
                <a:cs typeface="Times New Roman"/>
              </a:rPr>
              <a:t>Планово-</a:t>
            </a:r>
            <a:r>
              <a:rPr dirty="0" sz="2400">
                <a:latin typeface="Times New Roman"/>
                <a:cs typeface="Times New Roman"/>
              </a:rPr>
              <a:t>предупредительная</a:t>
            </a:r>
            <a:r>
              <a:rPr dirty="0" sz="2400" spc="380">
                <a:latin typeface="Times New Roman"/>
                <a:cs typeface="Times New Roman"/>
              </a:rPr>
              <a:t>  </a:t>
            </a:r>
            <a:r>
              <a:rPr dirty="0" sz="2400" spc="-10">
                <a:latin typeface="Times New Roman"/>
                <a:cs typeface="Times New Roman"/>
              </a:rPr>
              <a:t>система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81097" y="3462908"/>
            <a:ext cx="3244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Times New Roman"/>
                <a:cs typeface="Times New Roman"/>
              </a:rPr>
              <a:t>не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39336" y="3462908"/>
            <a:ext cx="167767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9718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Times New Roman"/>
                <a:cs typeface="Times New Roman"/>
              </a:rPr>
              <a:t>учитывает особенности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4253" y="3462908"/>
            <a:ext cx="221488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Times New Roman"/>
                <a:cs typeface="Times New Roman"/>
              </a:rPr>
              <a:t>ремонта индивидуальные эксплуатации,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29508" y="4194429"/>
            <a:ext cx="25895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89660" algn="l"/>
                <a:tab pos="2428240" algn="l"/>
              </a:tabLst>
            </a:pPr>
            <a:r>
              <a:rPr dirty="0" sz="2400" spc="-25">
                <a:latin typeface="Times New Roman"/>
                <a:cs typeface="Times New Roman"/>
              </a:rPr>
              <a:t>что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ведет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50">
                <a:latin typeface="Times New Roman"/>
                <a:cs typeface="Times New Roman"/>
              </a:rPr>
              <a:t>к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4253" y="4559884"/>
            <a:ext cx="5062855" cy="758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экономическим</a:t>
            </a:r>
            <a:r>
              <a:rPr dirty="0" sz="2400" spc="3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потерям</a:t>
            </a:r>
            <a:r>
              <a:rPr dirty="0" sz="2400" spc="3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либо</a:t>
            </a:r>
            <a:r>
              <a:rPr dirty="0" sz="2400" spc="35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рискам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400" spc="-10">
                <a:latin typeface="Times New Roman"/>
                <a:cs typeface="Times New Roman"/>
              </a:rPr>
              <a:t>безопасности.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640730" y="1293298"/>
            <a:ext cx="4430395" cy="3856990"/>
            <a:chOff x="5640730" y="1293298"/>
            <a:chExt cx="4430395" cy="385699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40730" y="1293298"/>
              <a:ext cx="4429861" cy="385674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60720" y="1412747"/>
              <a:ext cx="4309872" cy="3457955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91770">
              <a:lnSpc>
                <a:spcPts val="238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1252" y="16763"/>
            <a:ext cx="9959340" cy="6515100"/>
            <a:chOff x="111252" y="16763"/>
            <a:chExt cx="9959340" cy="6515100"/>
          </a:xfrm>
        </p:grpSpPr>
        <p:sp>
          <p:nvSpPr>
            <p:cNvPr id="3" name="object 3"/>
            <p:cNvSpPr/>
            <p:nvPr/>
          </p:nvSpPr>
          <p:spPr>
            <a:xfrm>
              <a:off x="375665" y="6464046"/>
              <a:ext cx="4766945" cy="0"/>
            </a:xfrm>
            <a:custGeom>
              <a:avLst/>
              <a:gdLst/>
              <a:ahLst/>
              <a:cxnLst/>
              <a:rect l="l" t="t" r="r" b="b"/>
              <a:pathLst>
                <a:path w="4766945" h="0">
                  <a:moveTo>
                    <a:pt x="0" y="0"/>
                  </a:moveTo>
                  <a:lnTo>
                    <a:pt x="4766691" y="0"/>
                  </a:lnTo>
                </a:path>
              </a:pathLst>
            </a:custGeom>
            <a:ln w="762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16763"/>
              <a:ext cx="9959340" cy="6515100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6839" rIns="0" bIns="0" rtlCol="0" vert="horz">
            <a:spAutoFit/>
          </a:bodyPr>
          <a:lstStyle/>
          <a:p>
            <a:pPr marL="3291204" marR="5080" indent="-2912745">
              <a:lnSpc>
                <a:spcPct val="100000"/>
              </a:lnSpc>
              <a:spcBef>
                <a:spcPts val="95"/>
              </a:spcBef>
            </a:pPr>
            <a:r>
              <a:rPr dirty="0" sz="4000" spc="-10">
                <a:solidFill>
                  <a:srgbClr val="00213D"/>
                </a:solidFill>
              </a:rPr>
              <a:t>Состояния</a:t>
            </a:r>
            <a:r>
              <a:rPr dirty="0" sz="4000" spc="-215">
                <a:solidFill>
                  <a:srgbClr val="00213D"/>
                </a:solidFill>
              </a:rPr>
              <a:t> </a:t>
            </a:r>
            <a:r>
              <a:rPr dirty="0" sz="4000">
                <a:solidFill>
                  <a:srgbClr val="00213D"/>
                </a:solidFill>
              </a:rPr>
              <a:t>лопаток</a:t>
            </a:r>
            <a:r>
              <a:rPr dirty="0" sz="4000" spc="-204">
                <a:solidFill>
                  <a:srgbClr val="00213D"/>
                </a:solidFill>
              </a:rPr>
              <a:t> </a:t>
            </a:r>
            <a:r>
              <a:rPr dirty="0" sz="4000" spc="-10">
                <a:solidFill>
                  <a:srgbClr val="00213D"/>
                </a:solidFill>
              </a:rPr>
              <a:t>газотурбинного двигателя</a:t>
            </a:r>
            <a:endParaRPr sz="4000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8095" y="1914144"/>
            <a:ext cx="8257032" cy="287121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42568" y="5157596"/>
            <a:ext cx="9149080" cy="9410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latin typeface="Times New Roman"/>
                <a:cs typeface="Times New Roman"/>
              </a:rPr>
              <a:t>Параметры: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Times New Roman"/>
                <a:cs typeface="Times New Roman"/>
              </a:rPr>
              <a:t>λ</a:t>
            </a:r>
            <a:r>
              <a:rPr dirty="0" sz="2000" spc="4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-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интенсивность</a:t>
            </a:r>
            <a:r>
              <a:rPr dirty="0" sz="2000" spc="-10">
                <a:latin typeface="Times New Roman"/>
                <a:cs typeface="Times New Roman"/>
              </a:rPr>
              <a:t> перехода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из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состояния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«работает»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в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состояние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«дефект»;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Times New Roman"/>
                <a:cs typeface="Times New Roman"/>
              </a:rPr>
              <a:t>µ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-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интенсивность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перехода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из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состояния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«дефект»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обратно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в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состояние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«работает».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91770">
              <a:lnSpc>
                <a:spcPts val="238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5665" y="6464046"/>
            <a:ext cx="4766945" cy="0"/>
          </a:xfrm>
          <a:custGeom>
            <a:avLst/>
            <a:gdLst/>
            <a:ahLst/>
            <a:cxnLst/>
            <a:rect l="l" t="t" r="r" b="b"/>
            <a:pathLst>
              <a:path w="4766945" h="0">
                <a:moveTo>
                  <a:pt x="0" y="0"/>
                </a:moveTo>
                <a:lnTo>
                  <a:pt x="4766691" y="0"/>
                </a:lnTo>
              </a:path>
            </a:pathLst>
          </a:custGeom>
          <a:ln w="7620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548888" y="261619"/>
            <a:ext cx="29724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000000"/>
                </a:solidFill>
              </a:rPr>
              <a:t>Цели</a:t>
            </a:r>
            <a:r>
              <a:rPr dirty="0" sz="3600" spc="-60">
                <a:solidFill>
                  <a:srgbClr val="000000"/>
                </a:solidFill>
              </a:rPr>
              <a:t> </a:t>
            </a:r>
            <a:r>
              <a:rPr dirty="0" sz="3600">
                <a:solidFill>
                  <a:srgbClr val="000000"/>
                </a:solidFill>
              </a:rPr>
              <a:t>и</a:t>
            </a:r>
            <a:r>
              <a:rPr dirty="0" sz="3600" spc="-70">
                <a:solidFill>
                  <a:srgbClr val="000000"/>
                </a:solidFill>
              </a:rPr>
              <a:t> </a:t>
            </a:r>
            <a:r>
              <a:rPr dirty="0" sz="3600" spc="-10">
                <a:solidFill>
                  <a:srgbClr val="000000"/>
                </a:solidFill>
              </a:rPr>
              <a:t>задачи</a:t>
            </a:r>
            <a:endParaRPr sz="3600"/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91770">
              <a:lnSpc>
                <a:spcPts val="2380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592327" y="985520"/>
            <a:ext cx="9024620" cy="1854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4495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Целью</a:t>
            </a:r>
            <a:r>
              <a:rPr dirty="0" sz="2400" spc="470">
                <a:latin typeface="Times New Roman"/>
                <a:cs typeface="Times New Roman"/>
              </a:rPr>
              <a:t>   </a:t>
            </a:r>
            <a:r>
              <a:rPr dirty="0" sz="2400">
                <a:latin typeface="Times New Roman"/>
                <a:cs typeface="Times New Roman"/>
              </a:rPr>
              <a:t>выпускной</a:t>
            </a:r>
            <a:r>
              <a:rPr dirty="0" sz="2400" spc="475">
                <a:latin typeface="Times New Roman"/>
                <a:cs typeface="Times New Roman"/>
              </a:rPr>
              <a:t>   </a:t>
            </a:r>
            <a:r>
              <a:rPr dirty="0" sz="2400">
                <a:latin typeface="Times New Roman"/>
                <a:cs typeface="Times New Roman"/>
              </a:rPr>
              <a:t>квалификационной</a:t>
            </a:r>
            <a:r>
              <a:rPr dirty="0" sz="2400" spc="475">
                <a:latin typeface="Times New Roman"/>
                <a:cs typeface="Times New Roman"/>
              </a:rPr>
              <a:t>   </a:t>
            </a:r>
            <a:r>
              <a:rPr dirty="0" sz="2400">
                <a:latin typeface="Times New Roman"/>
                <a:cs typeface="Times New Roman"/>
              </a:rPr>
              <a:t>работы</a:t>
            </a:r>
            <a:r>
              <a:rPr dirty="0" sz="2400" spc="475">
                <a:latin typeface="Times New Roman"/>
                <a:cs typeface="Times New Roman"/>
              </a:rPr>
              <a:t>   </a:t>
            </a:r>
            <a:r>
              <a:rPr dirty="0" sz="2400" spc="-10">
                <a:latin typeface="Times New Roman"/>
                <a:cs typeface="Times New Roman"/>
              </a:rPr>
              <a:t>является </a:t>
            </a:r>
            <a:r>
              <a:rPr dirty="0" sz="2400">
                <a:latin typeface="Times New Roman"/>
                <a:cs typeface="Times New Roman"/>
              </a:rPr>
              <a:t>исследование</a:t>
            </a:r>
            <a:r>
              <a:rPr dirty="0" sz="2400" spc="4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процессов</a:t>
            </a:r>
            <a:r>
              <a:rPr dirty="0" sz="2400" spc="5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деградации</a:t>
            </a:r>
            <a:r>
              <a:rPr dirty="0" sz="2400" spc="6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и</a:t>
            </a:r>
            <a:r>
              <a:rPr dirty="0" sz="2400" spc="5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восстановления</a:t>
            </a:r>
            <a:r>
              <a:rPr dirty="0" sz="2400" spc="60">
                <a:latin typeface="Times New Roman"/>
                <a:cs typeface="Times New Roman"/>
              </a:rPr>
              <a:t>  </a:t>
            </a:r>
            <a:r>
              <a:rPr dirty="0" sz="2400" spc="-10">
                <a:latin typeface="Times New Roman"/>
                <a:cs typeface="Times New Roman"/>
              </a:rPr>
              <a:t>защитных </a:t>
            </a:r>
            <a:r>
              <a:rPr dirty="0" sz="2400">
                <a:latin typeface="Times New Roman"/>
                <a:cs typeface="Times New Roman"/>
              </a:rPr>
              <a:t>покрытий</a:t>
            </a:r>
            <a:r>
              <a:rPr dirty="0" sz="2400" spc="4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деталей</a:t>
            </a:r>
            <a:r>
              <a:rPr dirty="0" sz="2400" spc="4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ГТД</a:t>
            </a:r>
            <a:r>
              <a:rPr dirty="0" sz="2400" spc="4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и</a:t>
            </a:r>
            <a:r>
              <a:rPr dirty="0" sz="2400" spc="4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определение</a:t>
            </a:r>
            <a:r>
              <a:rPr dirty="0" sz="2400" spc="4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оптимальных</a:t>
            </a:r>
            <a:r>
              <a:rPr dirty="0" sz="2400" spc="4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стратегий</a:t>
            </a:r>
            <a:r>
              <a:rPr dirty="0" sz="2400" spc="42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их </a:t>
            </a:r>
            <a:r>
              <a:rPr dirty="0" sz="2400">
                <a:latin typeface="Times New Roman"/>
                <a:cs typeface="Times New Roman"/>
              </a:rPr>
              <a:t>технического</a:t>
            </a:r>
            <a:r>
              <a:rPr dirty="0" sz="2400" spc="459">
                <a:latin typeface="Times New Roman"/>
                <a:cs typeface="Times New Roman"/>
              </a:rPr>
              <a:t>    </a:t>
            </a:r>
            <a:r>
              <a:rPr dirty="0" sz="2400">
                <a:latin typeface="Times New Roman"/>
                <a:cs typeface="Times New Roman"/>
              </a:rPr>
              <a:t>обслуживания</a:t>
            </a:r>
            <a:r>
              <a:rPr dirty="0" sz="2400" spc="465">
                <a:latin typeface="Times New Roman"/>
                <a:cs typeface="Times New Roman"/>
              </a:rPr>
              <a:t>    </a:t>
            </a:r>
            <a:r>
              <a:rPr dirty="0" sz="2400">
                <a:latin typeface="Times New Roman"/>
                <a:cs typeface="Times New Roman"/>
              </a:rPr>
              <a:t>на</a:t>
            </a:r>
            <a:r>
              <a:rPr dirty="0" sz="2400" spc="470">
                <a:latin typeface="Times New Roman"/>
                <a:cs typeface="Times New Roman"/>
              </a:rPr>
              <a:t>    </a:t>
            </a:r>
            <a:r>
              <a:rPr dirty="0" sz="2400">
                <a:latin typeface="Times New Roman"/>
                <a:cs typeface="Times New Roman"/>
              </a:rPr>
              <a:t>основе</a:t>
            </a:r>
            <a:r>
              <a:rPr dirty="0" sz="2400" spc="475">
                <a:latin typeface="Times New Roman"/>
                <a:cs typeface="Times New Roman"/>
              </a:rPr>
              <a:t>    </a:t>
            </a:r>
            <a:r>
              <a:rPr dirty="0" sz="2400" spc="-10">
                <a:latin typeface="Times New Roman"/>
                <a:cs typeface="Times New Roman"/>
              </a:rPr>
              <a:t>компьютерного моделирования.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2327" y="3119373"/>
            <a:ext cx="7056755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59105">
              <a:lnSpc>
                <a:spcPct val="100000"/>
              </a:lnSpc>
              <a:spcBef>
                <a:spcPts val="100"/>
              </a:spcBef>
            </a:pPr>
            <a:r>
              <a:rPr dirty="0" u="heavy" sz="24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Задачи: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459105" algn="l"/>
              </a:tabLst>
            </a:pPr>
            <a:r>
              <a:rPr dirty="0" sz="2400" spc="-50">
                <a:latin typeface="Symbol"/>
                <a:cs typeface="Symbol"/>
              </a:rPr>
              <a:t></a:t>
            </a:r>
            <a:r>
              <a:rPr dirty="0" sz="2400">
                <a:latin typeface="Times New Roman"/>
                <a:cs typeface="Times New Roman"/>
              </a:rPr>
              <a:t>	Изучить</a:t>
            </a:r>
            <a:r>
              <a:rPr dirty="0" sz="2400" spc="-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и</a:t>
            </a:r>
            <a:r>
              <a:rPr dirty="0" sz="2400" spc="-7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проанализировать</a:t>
            </a:r>
            <a:r>
              <a:rPr dirty="0" sz="2400" spc="-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предметную</a:t>
            </a:r>
            <a:r>
              <a:rPr dirty="0" sz="2400" spc="-9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область;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spc="-50">
                <a:latin typeface="Symbol"/>
                <a:cs typeface="Symbol"/>
              </a:rPr>
              <a:t>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9164" y="3851275"/>
            <a:ext cx="58388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76780" algn="l"/>
                <a:tab pos="4702175" algn="l"/>
              </a:tabLst>
            </a:pPr>
            <a:r>
              <a:rPr dirty="0" sz="2400" spc="-10">
                <a:latin typeface="Times New Roman"/>
                <a:cs typeface="Times New Roman"/>
              </a:rPr>
              <a:t>Рассмотреть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существующие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решения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02830" y="3851275"/>
            <a:ext cx="22142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Times New Roman"/>
                <a:cs typeface="Times New Roman"/>
              </a:rPr>
              <a:t>математического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2327" y="4217034"/>
            <a:ext cx="36271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69490" algn="l"/>
              </a:tabLst>
            </a:pPr>
            <a:r>
              <a:rPr dirty="0" sz="2400" spc="-10">
                <a:latin typeface="Times New Roman"/>
                <a:cs typeface="Times New Roman"/>
              </a:rPr>
              <a:t>моделирования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процессов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59351" y="4217034"/>
            <a:ext cx="51581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3395" algn="l"/>
                <a:tab pos="2196465" algn="l"/>
                <a:tab pos="4518025" algn="l"/>
              </a:tabLst>
            </a:pPr>
            <a:r>
              <a:rPr dirty="0" sz="2400" spc="-10">
                <a:latin typeface="Times New Roman"/>
                <a:cs typeface="Times New Roman"/>
              </a:rPr>
              <a:t>деградации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50">
                <a:latin typeface="Times New Roman"/>
                <a:cs typeface="Times New Roman"/>
              </a:rPr>
              <a:t>и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восстановления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30">
                <a:latin typeface="Times New Roman"/>
                <a:cs typeface="Times New Roman"/>
              </a:rPr>
              <a:t>ГТД,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2327" y="4582794"/>
            <a:ext cx="9023985" cy="1854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выявить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их</a:t>
            </a:r>
            <a:r>
              <a:rPr dirty="0" sz="2400" spc="-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достоинства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и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ограничения;</a:t>
            </a:r>
            <a:endParaRPr sz="2400">
              <a:latin typeface="Times New Roman"/>
              <a:cs typeface="Times New Roman"/>
            </a:endParaRPr>
          </a:p>
          <a:p>
            <a:pPr marL="12700" marR="6350" indent="446405">
              <a:lnSpc>
                <a:spcPct val="100000"/>
              </a:lnSpc>
              <a:buFont typeface="Symbol"/>
              <a:buChar char=""/>
              <a:tabLst>
                <a:tab pos="459105" algn="l"/>
                <a:tab pos="2367280" algn="l"/>
                <a:tab pos="4505960" algn="l"/>
                <a:tab pos="6368415" algn="l"/>
                <a:tab pos="6995159" algn="l"/>
              </a:tabLst>
            </a:pPr>
            <a:r>
              <a:rPr dirty="0" sz="2400" spc="-10">
                <a:latin typeface="Times New Roman"/>
                <a:cs typeface="Times New Roman"/>
              </a:rPr>
              <a:t>Реализовать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программный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инструмент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Times New Roman"/>
                <a:cs typeface="Times New Roman"/>
              </a:rPr>
              <a:t>со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сравнительным </a:t>
            </a:r>
            <a:r>
              <a:rPr dirty="0" sz="2400">
                <a:latin typeface="Times New Roman"/>
                <a:cs typeface="Times New Roman"/>
              </a:rPr>
              <a:t>анализом</a:t>
            </a:r>
            <a:r>
              <a:rPr dirty="0" sz="2400" spc="-1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стратегий</a:t>
            </a:r>
            <a:r>
              <a:rPr dirty="0" sz="2400" spc="-10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технического</a:t>
            </a:r>
            <a:r>
              <a:rPr dirty="0" sz="2400" spc="-114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обслуживания.</a:t>
            </a:r>
            <a:endParaRPr sz="2400">
              <a:latin typeface="Times New Roman"/>
              <a:cs typeface="Times New Roman"/>
            </a:endParaRPr>
          </a:p>
          <a:p>
            <a:pPr marL="12700" marR="5080" indent="446405">
              <a:lnSpc>
                <a:spcPct val="100000"/>
              </a:lnSpc>
              <a:buFont typeface="Symbol"/>
              <a:buChar char=""/>
              <a:tabLst>
                <a:tab pos="459105" algn="l"/>
                <a:tab pos="2453005" algn="l"/>
                <a:tab pos="5248275" algn="l"/>
                <a:tab pos="7156450" algn="l"/>
              </a:tabLst>
            </a:pPr>
            <a:r>
              <a:rPr dirty="0" sz="2400" spc="-10">
                <a:latin typeface="Times New Roman"/>
                <a:cs typeface="Times New Roman"/>
              </a:rPr>
              <a:t>Обосновать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целесообразность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разработки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программного инструмента.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000000"/>
                </a:solidFill>
              </a:rPr>
              <a:t>Стек</a:t>
            </a:r>
            <a:r>
              <a:rPr dirty="0" sz="3600" spc="-160">
                <a:solidFill>
                  <a:srgbClr val="000000"/>
                </a:solidFill>
              </a:rPr>
              <a:t> </a:t>
            </a:r>
            <a:r>
              <a:rPr dirty="0" sz="3600" spc="-10">
                <a:solidFill>
                  <a:srgbClr val="000000"/>
                </a:solidFill>
              </a:rPr>
              <a:t>технологий</a:t>
            </a:r>
            <a:r>
              <a:rPr dirty="0" sz="3600" spc="-145">
                <a:solidFill>
                  <a:srgbClr val="000000"/>
                </a:solidFill>
              </a:rPr>
              <a:t> </a:t>
            </a:r>
            <a:r>
              <a:rPr dirty="0" sz="3600" spc="-10">
                <a:solidFill>
                  <a:srgbClr val="000000"/>
                </a:solidFill>
              </a:rPr>
              <a:t>проекта</a:t>
            </a:r>
            <a:endParaRPr sz="3600"/>
          </a:p>
        </p:txBody>
      </p:sp>
      <p:pic>
        <p:nvPicPr>
          <p:cNvPr id="3" name="object 3" descr="Picture backgroun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6461" y="2138608"/>
            <a:ext cx="1393828" cy="147544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6648752" y="3544892"/>
            <a:ext cx="2804795" cy="2292350"/>
            <a:chOff x="6648752" y="3544892"/>
            <a:chExt cx="2804795" cy="2292350"/>
          </a:xfrm>
        </p:grpSpPr>
        <p:pic>
          <p:nvPicPr>
            <p:cNvPr id="5" name="object 5" descr="Picture background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87365" y="3544892"/>
              <a:ext cx="965797" cy="1040354"/>
            </a:xfrm>
            <a:prstGeom prst="rect">
              <a:avLst/>
            </a:prstGeom>
          </p:spPr>
        </p:pic>
        <p:pic>
          <p:nvPicPr>
            <p:cNvPr id="6" name="object 6" descr="Picture background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48752" y="3560589"/>
              <a:ext cx="861979" cy="959068"/>
            </a:xfrm>
            <a:prstGeom prst="rect">
              <a:avLst/>
            </a:prstGeom>
          </p:spPr>
        </p:pic>
        <p:pic>
          <p:nvPicPr>
            <p:cNvPr id="7" name="object 7" descr="Picture background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95388" y="4509516"/>
              <a:ext cx="1459992" cy="1327404"/>
            </a:xfrm>
            <a:prstGeom prst="rect">
              <a:avLst/>
            </a:prstGeom>
          </p:spPr>
        </p:pic>
      </p:grpSp>
      <p:pic>
        <p:nvPicPr>
          <p:cNvPr id="8" name="object 8" descr="Picture background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69789" y="2512787"/>
            <a:ext cx="1610615" cy="62884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248906" y="1440307"/>
            <a:ext cx="155511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3695" marR="5080" indent="-34163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latin typeface="Times New Roman"/>
                <a:cs typeface="Times New Roman"/>
              </a:rPr>
              <a:t>Библиотеки </a:t>
            </a:r>
            <a:r>
              <a:rPr dirty="0" sz="2400" spc="-10">
                <a:latin typeface="Times New Roman"/>
                <a:cs typeface="Times New Roman"/>
              </a:rPr>
              <a:t>python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10" name="object 10" descr="Picture background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79497" y="2500883"/>
            <a:ext cx="1781533" cy="760476"/>
          </a:xfrm>
          <a:prstGeom prst="rect">
            <a:avLst/>
          </a:prstGeom>
        </p:spPr>
      </p:pic>
      <p:pic>
        <p:nvPicPr>
          <p:cNvPr id="11" name="object 11" descr="Picture background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68456" y="4278655"/>
            <a:ext cx="1467971" cy="170722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758439" y="2374391"/>
            <a:ext cx="2831591" cy="1110996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91770">
              <a:lnSpc>
                <a:spcPts val="238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35997" y="7258913"/>
            <a:ext cx="14160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12419" y="28447"/>
            <a:ext cx="903160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000000"/>
                </a:solidFill>
              </a:rPr>
              <a:t>Сравнительный</a:t>
            </a:r>
            <a:r>
              <a:rPr dirty="0" sz="2400" spc="-6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анализ</a:t>
            </a:r>
            <a:r>
              <a:rPr dirty="0" sz="2400" spc="-75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математических</a:t>
            </a:r>
            <a:r>
              <a:rPr dirty="0" sz="2400" spc="-105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методов</a:t>
            </a:r>
            <a:r>
              <a:rPr dirty="0" sz="2400" spc="-80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моделирования</a:t>
            </a:r>
            <a:endParaRPr sz="240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89242" y="393699"/>
          <a:ext cx="9958070" cy="69449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8720"/>
                <a:gridCol w="1517650"/>
                <a:gridCol w="1879600"/>
                <a:gridCol w="1798320"/>
                <a:gridCol w="1651634"/>
                <a:gridCol w="1836420"/>
              </a:tblGrid>
              <a:tr h="617855">
                <a:tc>
                  <a:txBody>
                    <a:bodyPr/>
                    <a:lstStyle/>
                    <a:p>
                      <a:pPr marL="24892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Критерий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Детерминированны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16865" marR="79375" indent="-231775">
                        <a:lnSpc>
                          <a:spcPct val="114999"/>
                        </a:lnSpc>
                      </a:pPr>
                      <a:r>
                        <a:rPr dirty="0" sz="1200" b="1">
                          <a:latin typeface="Times New Roman"/>
                          <a:cs typeface="Times New Roman"/>
                        </a:rPr>
                        <a:t>е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 модели (механика разрушения)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b="1">
                          <a:latin typeface="Times New Roman"/>
                          <a:cs typeface="Times New Roman"/>
                        </a:rPr>
                        <a:t>Регрессионные</a:t>
                      </a:r>
                      <a:r>
                        <a:rPr dirty="0" sz="1200" spc="-7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модели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(data-driven)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857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Марковские</a:t>
                      </a:r>
                      <a:r>
                        <a:rPr dirty="0" sz="1200" spc="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0" b="1">
                          <a:latin typeface="Times New Roman"/>
                          <a:cs typeface="Times New Roman"/>
                        </a:rPr>
                        <a:t>цепи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Полумарковские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процессы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Модели</a:t>
                      </a:r>
                      <a:r>
                        <a:rPr dirty="0" sz="1200" spc="-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накопления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повреждения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</a:tcPr>
                </a:tc>
              </a:tr>
              <a:tr h="12807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1200" spc="-20" b="1">
                          <a:latin typeface="Times New Roman"/>
                          <a:cs typeface="Times New Roman"/>
                        </a:rPr>
                        <a:t>Учет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случайного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196850" marR="191135" indent="635">
                        <a:lnSpc>
                          <a:spcPct val="114999"/>
                        </a:lnSpc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характера деградации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415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solidFill>
                      <a:srgbClr val="4AACC5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Износ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рассчитывается</a:t>
                      </a:r>
                      <a:r>
                        <a:rPr dirty="0" sz="1200" spc="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по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58140" marR="168910" indent="-182245">
                        <a:lnSpc>
                          <a:spcPct val="114999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заранее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заданным постоянным параметрам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415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solidFill>
                      <a:srgbClr val="4AACC5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Учитывается</a:t>
                      </a:r>
                      <a:r>
                        <a:rPr dirty="0" sz="12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через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25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статистическую</a:t>
                      </a:r>
                      <a:r>
                        <a:rPr dirty="0" sz="1200" spc="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обработку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7310" marR="63500" indent="81915">
                        <a:lnSpc>
                          <a:spcPct val="114999"/>
                        </a:lnSpc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экспериментальных</a:t>
                      </a:r>
                      <a:r>
                        <a:rPr dirty="0" sz="1200" spc="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или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эксплуатационных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данных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415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solidFill>
                      <a:srgbClr val="4AACC5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8257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Учитывается</a:t>
                      </a:r>
                      <a:r>
                        <a:rPr dirty="0" sz="12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через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76860" indent="-17843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вероятности</a:t>
                      </a:r>
                      <a:r>
                        <a:rPr dirty="0" sz="12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перехода</a:t>
                      </a:r>
                      <a:r>
                        <a:rPr dirty="0" sz="12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из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85165" marR="269875" indent="-408940">
                        <a:lnSpc>
                          <a:spcPct val="114999"/>
                        </a:lnSpc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одного</a:t>
                      </a:r>
                      <a:r>
                        <a:rPr dirty="0" sz="12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состояния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в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другое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415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solidFill>
                      <a:srgbClr val="4AACC5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Учитывается</a:t>
                      </a:r>
                      <a:r>
                        <a:rPr dirty="0" sz="12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через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вероятности</a:t>
                      </a:r>
                      <a:r>
                        <a:rPr dirty="0" sz="12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переходов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и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законы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распределения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92710" marR="85725">
                        <a:lnSpc>
                          <a:spcPct val="114999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времени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нахождения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 в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состоянии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415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solidFill>
                      <a:srgbClr val="4AACC5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В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базовом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виде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не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учитывается;</a:t>
                      </a:r>
                      <a:r>
                        <a:rPr dirty="0" sz="12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случайность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вводится</a:t>
                      </a:r>
                      <a:r>
                        <a:rPr dirty="0" sz="12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дополнительно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415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solidFill>
                      <a:srgbClr val="4AACC5">
                        <a:alpha val="19999"/>
                      </a:srgbClr>
                    </a:solidFill>
                  </a:tcPr>
                </a:tc>
              </a:tr>
              <a:tr h="12490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Возможность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59690" marR="53340">
                        <a:lnSpc>
                          <a:spcPct val="114999"/>
                        </a:lnSpc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моделирования восстановлени </a:t>
                      </a:r>
                      <a:r>
                        <a:rPr dirty="0" sz="1200" spc="-50" b="1">
                          <a:latin typeface="Times New Roman"/>
                          <a:cs typeface="Times New Roman"/>
                        </a:rPr>
                        <a:t>я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ct val="100000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Не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предусмотрено;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23825" marR="116839" indent="162560">
                        <a:lnSpc>
                          <a:spcPct val="114999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после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ремонта 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необходимо</a:t>
                      </a:r>
                      <a:r>
                        <a:rPr dirty="0" sz="12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заново задавать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начальные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07034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параметры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Возможна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при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наличии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данных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о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случаях</a:t>
                      </a:r>
                      <a:r>
                        <a:rPr dirty="0" sz="12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ремонта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Реализуется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как</a:t>
                      </a:r>
                      <a:r>
                        <a:rPr dirty="0" sz="12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возврат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252095" marR="243204">
                        <a:lnSpc>
                          <a:spcPct val="114999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системы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в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исходное состояние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Позволяет</a:t>
                      </a:r>
                      <a:r>
                        <a:rPr dirty="0" sz="1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задавать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как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290830" marR="283210">
                        <a:lnSpc>
                          <a:spcPct val="114999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частичное,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так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и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полное восстановление,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186055" marR="177800">
                        <a:lnSpc>
                          <a:spcPct val="114999"/>
                        </a:lnSpc>
                        <a:spcBef>
                          <a:spcPts val="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включая повторные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ремонтные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циклы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Требует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изменения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229235" marR="220345">
                        <a:lnSpc>
                          <a:spcPct val="114999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параметров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модели</a:t>
                      </a:r>
                      <a:r>
                        <a:rPr dirty="0" sz="12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и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повторного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задания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состояния</a:t>
                      </a:r>
                      <a:r>
                        <a:rPr dirty="0" sz="12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материала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</a:tcPr>
                </a:tc>
              </a:tr>
              <a:tr h="12744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Использование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92075" marR="85090">
                        <a:lnSpc>
                          <a:spcPct val="114999"/>
                        </a:lnSpc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произвольных законов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распределения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времени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solidFill>
                      <a:srgbClr val="4AACC5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44704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Да;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износ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just" marL="130175" marR="123189" indent="20955">
                        <a:lnSpc>
                          <a:spcPct val="114999"/>
                        </a:lnSpc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рассчитывается</a:t>
                      </a:r>
                      <a:r>
                        <a:rPr dirty="0" sz="120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по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заданной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формуле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роста</a:t>
                      </a:r>
                      <a:r>
                        <a:rPr dirty="0" sz="12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повреждения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solidFill>
                      <a:srgbClr val="4AACC5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Да;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закон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изменения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определяется</a:t>
                      </a:r>
                      <a:r>
                        <a:rPr dirty="0" sz="12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по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279400" marR="271780">
                        <a:lnSpc>
                          <a:spcPct val="114999"/>
                        </a:lnSpc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экспериментальным данным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solidFill>
                      <a:srgbClr val="4AACC5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Нет;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время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работы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до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144145" marR="135890" indent="635">
                        <a:lnSpc>
                          <a:spcPct val="114999"/>
                        </a:lnSpc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перехода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в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другое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состояние</a:t>
                      </a:r>
                      <a:r>
                        <a:rPr dirty="0" sz="12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описывается только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экспоненциальным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законом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solidFill>
                      <a:srgbClr val="4AACC5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Да;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можно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132715" marR="123825">
                        <a:lnSpc>
                          <a:spcPct val="114999"/>
                        </a:lnSpc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использовать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законы, соответствующие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реальным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процессам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износа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(например,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190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закон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Вейбулла)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solidFill>
                      <a:srgbClr val="4AACC5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Да;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изменение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376555" marR="370205">
                        <a:lnSpc>
                          <a:spcPct val="114999"/>
                        </a:lnSpc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поврежденности описывается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непрерывной</a:t>
                      </a:r>
                      <a:r>
                        <a:rPr dirty="0" sz="12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функцией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времени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solidFill>
                      <a:srgbClr val="4AACC5">
                        <a:alpha val="19999"/>
                      </a:srgbClr>
                    </a:solidFill>
                  </a:tcPr>
                </a:tc>
              </a:tr>
              <a:tr h="828040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Вычислительн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2075" marR="86995" indent="421640">
                        <a:lnSpc>
                          <a:spcPct val="114999"/>
                        </a:lnSpc>
                      </a:pPr>
                      <a:r>
                        <a:rPr dirty="0" sz="1200" spc="-25" b="1">
                          <a:latin typeface="Times New Roman"/>
                          <a:cs typeface="Times New Roman"/>
                        </a:rPr>
                        <a:t>ая 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реализуемость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Реализуются</a:t>
                      </a:r>
                      <a:r>
                        <a:rPr dirty="0" sz="12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просто;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112395" marR="106680">
                        <a:lnSpc>
                          <a:spcPct val="114999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расчет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выполняется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быстро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для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одной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детали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Зависит</a:t>
                      </a:r>
                      <a:r>
                        <a:rPr dirty="0" sz="12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от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объема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данных;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200025" marR="194310">
                        <a:lnSpc>
                          <a:spcPct val="114999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при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больших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массивах требует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значительных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вычислительных</a:t>
                      </a:r>
                      <a:r>
                        <a:rPr dirty="0" sz="120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ресурсов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203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Реализуются</a:t>
                      </a:r>
                      <a:r>
                        <a:rPr dirty="0" sz="12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просто;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5455" marR="198120" indent="-260985">
                        <a:lnSpc>
                          <a:spcPct val="114999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расчет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стационарных вероятностей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30504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выполняется</a:t>
                      </a:r>
                      <a:r>
                        <a:rPr dirty="0" sz="12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быстро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Требуют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задания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распределений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103505" marR="96520">
                        <a:lnSpc>
                          <a:spcPct val="114999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времени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и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численного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расчета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показателей;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Требуют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большого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69215" marR="62230">
                        <a:lnSpc>
                          <a:spcPct val="114999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объема</a:t>
                      </a:r>
                      <a:r>
                        <a:rPr dirty="0" sz="1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расчетов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и</a:t>
                      </a:r>
                      <a:r>
                        <a:rPr dirty="0" sz="12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точных экспериментальных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571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данных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по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материалу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</a:tcPr>
                </a:tc>
              </a:tr>
              <a:tr h="16948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Соответствие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задачам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моделирования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цикла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85725" marR="79375" indent="1270">
                        <a:lnSpc>
                          <a:spcPct val="114999"/>
                        </a:lnSpc>
                      </a:pPr>
                      <a:r>
                        <a:rPr dirty="0" sz="1200" b="1">
                          <a:latin typeface="Times New Roman"/>
                          <a:cs typeface="Times New Roman"/>
                        </a:rPr>
                        <a:t>«деградация–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восстановлени </a:t>
                      </a:r>
                      <a:r>
                        <a:rPr dirty="0" sz="1200" spc="-25" b="1">
                          <a:latin typeface="Times New Roman"/>
                          <a:cs typeface="Times New Roman"/>
                        </a:rPr>
                        <a:t>е»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solidFill>
                      <a:srgbClr val="4AACC5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Подходят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для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190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расчета</a:t>
                      </a:r>
                      <a:r>
                        <a:rPr dirty="0" sz="1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момента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разрушения,</a:t>
                      </a:r>
                      <a:r>
                        <a:rPr dirty="0" sz="12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но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не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288290" marR="280035" indent="-1905">
                        <a:lnSpc>
                          <a:spcPct val="114999"/>
                        </a:lnSpc>
                        <a:spcBef>
                          <a:spcPts val="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позволяют анализировать стратегии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295910" marR="285750" indent="-2540">
                        <a:lnSpc>
                          <a:spcPct val="114999"/>
                        </a:lnSpc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технического обслуживания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solidFill>
                      <a:srgbClr val="4AACC5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Применимы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при</a:t>
                      </a:r>
                      <a:r>
                        <a:rPr dirty="0" sz="1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наличии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большой</a:t>
                      </a:r>
                      <a:r>
                        <a:rPr dirty="0" sz="12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статистики;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ограничены</a:t>
                      </a:r>
                      <a:r>
                        <a:rPr dirty="0" sz="12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условиями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обучающей выборки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solidFill>
                      <a:srgbClr val="4AACC5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Позволяют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оценивать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надежность,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но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упрощают</a:t>
                      </a:r>
                      <a:r>
                        <a:rPr dirty="0" sz="12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реальный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характер</a:t>
                      </a:r>
                      <a:r>
                        <a:rPr dirty="0" sz="12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износа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solidFill>
                      <a:srgbClr val="4AACC5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Наиболее</a:t>
                      </a:r>
                      <a:r>
                        <a:rPr dirty="0" sz="12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полно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позволяют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описывать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многократные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циклы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эксплуатации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и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121920" marR="116205">
                        <a:lnSpc>
                          <a:spcPct val="114999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ремонта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и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сравнивать стратегии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362585" marR="355600" indent="1270">
                        <a:lnSpc>
                          <a:spcPct val="114999"/>
                        </a:lnSpc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технического обслуживания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solidFill>
                      <a:srgbClr val="4AACC5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Подходят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для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глубокого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анализа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поведения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материала,</a:t>
                      </a:r>
                      <a:r>
                        <a:rPr dirty="0" sz="12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но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избыточны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139065" marR="131445">
                        <a:lnSpc>
                          <a:spcPct val="114999"/>
                        </a:lnSpc>
                        <a:spcBef>
                          <a:spcPts val="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для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задач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планирования ремонта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solidFill>
                      <a:srgbClr val="4AACC5">
                        <a:alpha val="19999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5665" y="6464046"/>
            <a:ext cx="4766945" cy="0"/>
          </a:xfrm>
          <a:custGeom>
            <a:avLst/>
            <a:gdLst/>
            <a:ahLst/>
            <a:cxnLst/>
            <a:rect l="l" t="t" r="r" b="b"/>
            <a:pathLst>
              <a:path w="4766945" h="0">
                <a:moveTo>
                  <a:pt x="0" y="0"/>
                </a:moveTo>
                <a:lnTo>
                  <a:pt x="4766691" y="0"/>
                </a:lnTo>
              </a:path>
            </a:pathLst>
          </a:custGeom>
          <a:ln w="7620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5411" rIns="0" bIns="0" rtlCol="0" vert="horz">
            <a:spAutoFit/>
          </a:bodyPr>
          <a:lstStyle/>
          <a:p>
            <a:pPr marL="257175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000000"/>
                </a:solidFill>
              </a:rPr>
              <a:t>Процесс</a:t>
            </a:r>
            <a:r>
              <a:rPr dirty="0" sz="3600" spc="-130">
                <a:solidFill>
                  <a:srgbClr val="000000"/>
                </a:solidFill>
              </a:rPr>
              <a:t> </a:t>
            </a:r>
            <a:r>
              <a:rPr dirty="0" sz="3600" spc="-10">
                <a:solidFill>
                  <a:srgbClr val="000000"/>
                </a:solidFill>
              </a:rPr>
              <a:t>деградации</a:t>
            </a:r>
            <a:r>
              <a:rPr dirty="0" sz="3600" spc="-135">
                <a:solidFill>
                  <a:srgbClr val="000000"/>
                </a:solidFill>
              </a:rPr>
              <a:t> </a:t>
            </a:r>
            <a:r>
              <a:rPr dirty="0" sz="3600" spc="-10">
                <a:solidFill>
                  <a:srgbClr val="000000"/>
                </a:solidFill>
              </a:rPr>
              <a:t>толщины</a:t>
            </a:r>
            <a:r>
              <a:rPr dirty="0" sz="3600" spc="-130">
                <a:solidFill>
                  <a:srgbClr val="000000"/>
                </a:solidFill>
              </a:rPr>
              <a:t> </a:t>
            </a:r>
            <a:r>
              <a:rPr dirty="0" sz="3600" spc="-10">
                <a:solidFill>
                  <a:srgbClr val="000000"/>
                </a:solidFill>
              </a:rPr>
              <a:t>покрытия</a:t>
            </a:r>
            <a:endParaRPr sz="3600"/>
          </a:p>
        </p:txBody>
      </p:sp>
      <p:sp>
        <p:nvSpPr>
          <p:cNvPr id="4" name="object 4"/>
          <p:cNvSpPr/>
          <p:nvPr/>
        </p:nvSpPr>
        <p:spPr>
          <a:xfrm>
            <a:off x="2912745" y="2111120"/>
            <a:ext cx="672465" cy="22860"/>
          </a:xfrm>
          <a:custGeom>
            <a:avLst/>
            <a:gdLst/>
            <a:ahLst/>
            <a:cxnLst/>
            <a:rect l="l" t="t" r="r" b="b"/>
            <a:pathLst>
              <a:path w="672464" h="22860">
                <a:moveTo>
                  <a:pt x="672083" y="0"/>
                </a:moveTo>
                <a:lnTo>
                  <a:pt x="0" y="0"/>
                </a:lnTo>
                <a:lnTo>
                  <a:pt x="0" y="22860"/>
                </a:lnTo>
                <a:lnTo>
                  <a:pt x="672083" y="22860"/>
                </a:lnTo>
                <a:lnTo>
                  <a:pt x="6720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270758" y="1820163"/>
            <a:ext cx="292100" cy="240029"/>
          </a:xfrm>
          <a:custGeom>
            <a:avLst/>
            <a:gdLst/>
            <a:ahLst/>
            <a:cxnLst/>
            <a:rect l="l" t="t" r="r" b="b"/>
            <a:pathLst>
              <a:path w="292100" h="240030">
                <a:moveTo>
                  <a:pt x="215518" y="0"/>
                </a:moveTo>
                <a:lnTo>
                  <a:pt x="212216" y="9651"/>
                </a:lnTo>
                <a:lnTo>
                  <a:pt x="226099" y="15676"/>
                </a:lnTo>
                <a:lnTo>
                  <a:pt x="238029" y="24034"/>
                </a:lnTo>
                <a:lnTo>
                  <a:pt x="262272" y="62773"/>
                </a:lnTo>
                <a:lnTo>
                  <a:pt x="270255" y="118745"/>
                </a:lnTo>
                <a:lnTo>
                  <a:pt x="269355" y="139888"/>
                </a:lnTo>
                <a:lnTo>
                  <a:pt x="256031" y="191770"/>
                </a:lnTo>
                <a:lnTo>
                  <a:pt x="226242" y="224131"/>
                </a:lnTo>
                <a:lnTo>
                  <a:pt x="212597" y="230250"/>
                </a:lnTo>
                <a:lnTo>
                  <a:pt x="215518" y="239902"/>
                </a:lnTo>
                <a:lnTo>
                  <a:pt x="261435" y="212685"/>
                </a:lnTo>
                <a:lnTo>
                  <a:pt x="287162" y="162385"/>
                </a:lnTo>
                <a:lnTo>
                  <a:pt x="292100" y="120014"/>
                </a:lnTo>
                <a:lnTo>
                  <a:pt x="290877" y="98294"/>
                </a:lnTo>
                <a:lnTo>
                  <a:pt x="280955" y="59043"/>
                </a:lnTo>
                <a:lnTo>
                  <a:pt x="248189" y="15351"/>
                </a:lnTo>
                <a:lnTo>
                  <a:pt x="232925" y="6264"/>
                </a:lnTo>
                <a:lnTo>
                  <a:pt x="215518" y="0"/>
                </a:lnTo>
                <a:close/>
              </a:path>
              <a:path w="292100" h="240030">
                <a:moveTo>
                  <a:pt x="76580" y="0"/>
                </a:moveTo>
                <a:lnTo>
                  <a:pt x="30789" y="27271"/>
                </a:lnTo>
                <a:lnTo>
                  <a:pt x="4953" y="77692"/>
                </a:lnTo>
                <a:lnTo>
                  <a:pt x="71" y="118745"/>
                </a:lnTo>
                <a:lnTo>
                  <a:pt x="0" y="120014"/>
                </a:lnTo>
                <a:lnTo>
                  <a:pt x="1115" y="139888"/>
                </a:lnTo>
                <a:lnTo>
                  <a:pt x="11090" y="181040"/>
                </a:lnTo>
                <a:lnTo>
                  <a:pt x="43799" y="224567"/>
                </a:lnTo>
                <a:lnTo>
                  <a:pt x="76580" y="239902"/>
                </a:lnTo>
                <a:lnTo>
                  <a:pt x="79628" y="230250"/>
                </a:lnTo>
                <a:lnTo>
                  <a:pt x="65911" y="224131"/>
                </a:lnTo>
                <a:lnTo>
                  <a:pt x="54086" y="215677"/>
                </a:lnTo>
                <a:lnTo>
                  <a:pt x="29880" y="176412"/>
                </a:lnTo>
                <a:lnTo>
                  <a:pt x="21898" y="120014"/>
                </a:lnTo>
                <a:lnTo>
                  <a:pt x="21843" y="118745"/>
                </a:lnTo>
                <a:lnTo>
                  <a:pt x="22744" y="98294"/>
                </a:lnTo>
                <a:lnTo>
                  <a:pt x="36067" y="47751"/>
                </a:lnTo>
                <a:lnTo>
                  <a:pt x="66125" y="15676"/>
                </a:lnTo>
                <a:lnTo>
                  <a:pt x="80009" y="9651"/>
                </a:lnTo>
                <a:lnTo>
                  <a:pt x="765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900298" y="1743836"/>
            <a:ext cx="583565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 spc="114">
                <a:latin typeface="Cambria Math"/>
                <a:cs typeface="Cambria Math"/>
              </a:rPr>
              <a:t>𝑑ℎ</a:t>
            </a:r>
            <a:r>
              <a:rPr dirty="0" sz="2050" spc="459">
                <a:latin typeface="Cambria Math"/>
                <a:cs typeface="Cambria Math"/>
              </a:rPr>
              <a:t> </a:t>
            </a:r>
            <a:r>
              <a:rPr dirty="0" sz="2050" spc="30">
                <a:latin typeface="Cambria Math"/>
                <a:cs typeface="Cambria Math"/>
              </a:rPr>
              <a:t>𝑡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92576" y="2130933"/>
            <a:ext cx="306070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 spc="65">
                <a:latin typeface="Cambria Math"/>
                <a:cs typeface="Cambria Math"/>
              </a:rPr>
              <a:t>𝑑𝑡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80635" y="1958085"/>
            <a:ext cx="382270" cy="328930"/>
          </a:xfrm>
          <a:custGeom>
            <a:avLst/>
            <a:gdLst/>
            <a:ahLst/>
            <a:cxnLst/>
            <a:rect l="l" t="t" r="r" b="b"/>
            <a:pathLst>
              <a:path w="382270" h="328930">
                <a:moveTo>
                  <a:pt x="277240" y="0"/>
                </a:moveTo>
                <a:lnTo>
                  <a:pt x="272668" y="13335"/>
                </a:lnTo>
                <a:lnTo>
                  <a:pt x="291699" y="21597"/>
                </a:lnTo>
                <a:lnTo>
                  <a:pt x="308038" y="33051"/>
                </a:lnTo>
                <a:lnTo>
                  <a:pt x="332739" y="65531"/>
                </a:lnTo>
                <a:lnTo>
                  <a:pt x="347313" y="109219"/>
                </a:lnTo>
                <a:lnTo>
                  <a:pt x="350903" y="134417"/>
                </a:lnTo>
                <a:lnTo>
                  <a:pt x="350956" y="134790"/>
                </a:lnTo>
                <a:lnTo>
                  <a:pt x="352171" y="162813"/>
                </a:lnTo>
                <a:lnTo>
                  <a:pt x="350956" y="191845"/>
                </a:lnTo>
                <a:lnTo>
                  <a:pt x="347313" y="218186"/>
                </a:lnTo>
                <a:lnTo>
                  <a:pt x="332739" y="262889"/>
                </a:lnTo>
                <a:lnTo>
                  <a:pt x="308054" y="295767"/>
                </a:lnTo>
                <a:lnTo>
                  <a:pt x="273176" y="315595"/>
                </a:lnTo>
                <a:lnTo>
                  <a:pt x="277240" y="328929"/>
                </a:lnTo>
                <a:lnTo>
                  <a:pt x="322119" y="307895"/>
                </a:lnTo>
                <a:lnTo>
                  <a:pt x="355091" y="271525"/>
                </a:lnTo>
                <a:lnTo>
                  <a:pt x="375380" y="222678"/>
                </a:lnTo>
                <a:lnTo>
                  <a:pt x="382142" y="164591"/>
                </a:lnTo>
                <a:lnTo>
                  <a:pt x="380473" y="134790"/>
                </a:lnTo>
                <a:lnTo>
                  <a:pt x="366926" y="80974"/>
                </a:lnTo>
                <a:lnTo>
                  <a:pt x="340016" y="37468"/>
                </a:lnTo>
                <a:lnTo>
                  <a:pt x="301103" y="8616"/>
                </a:lnTo>
                <a:lnTo>
                  <a:pt x="277240" y="0"/>
                </a:lnTo>
                <a:close/>
              </a:path>
              <a:path w="382270" h="328930">
                <a:moveTo>
                  <a:pt x="104901" y="0"/>
                </a:moveTo>
                <a:lnTo>
                  <a:pt x="60229" y="21113"/>
                </a:lnTo>
                <a:lnTo>
                  <a:pt x="27177" y="57658"/>
                </a:lnTo>
                <a:lnTo>
                  <a:pt x="6826" y="106553"/>
                </a:lnTo>
                <a:lnTo>
                  <a:pt x="100" y="162813"/>
                </a:lnTo>
                <a:lnTo>
                  <a:pt x="0" y="164591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72" y="291621"/>
                </a:lnTo>
                <a:lnTo>
                  <a:pt x="81022" y="320335"/>
                </a:lnTo>
                <a:lnTo>
                  <a:pt x="104901" y="328929"/>
                </a:lnTo>
                <a:lnTo>
                  <a:pt x="109092" y="315595"/>
                </a:lnTo>
                <a:lnTo>
                  <a:pt x="90374" y="307306"/>
                </a:lnTo>
                <a:lnTo>
                  <a:pt x="74215" y="295767"/>
                </a:lnTo>
                <a:lnTo>
                  <a:pt x="49529" y="262889"/>
                </a:lnTo>
                <a:lnTo>
                  <a:pt x="34956" y="218186"/>
                </a:lnTo>
                <a:lnTo>
                  <a:pt x="30173" y="164591"/>
                </a:lnTo>
                <a:lnTo>
                  <a:pt x="30099" y="162813"/>
                </a:lnTo>
                <a:lnTo>
                  <a:pt x="31313" y="134790"/>
                </a:lnTo>
                <a:lnTo>
                  <a:pt x="41028" y="86125"/>
                </a:lnTo>
                <a:lnTo>
                  <a:pt x="60630" y="47696"/>
                </a:lnTo>
                <a:lnTo>
                  <a:pt x="90642" y="21597"/>
                </a:lnTo>
                <a:lnTo>
                  <a:pt x="109600" y="13335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467603" y="1958085"/>
            <a:ext cx="382270" cy="328930"/>
          </a:xfrm>
          <a:custGeom>
            <a:avLst/>
            <a:gdLst/>
            <a:ahLst/>
            <a:cxnLst/>
            <a:rect l="l" t="t" r="r" b="b"/>
            <a:pathLst>
              <a:path w="382270" h="328930">
                <a:moveTo>
                  <a:pt x="277241" y="0"/>
                </a:moveTo>
                <a:lnTo>
                  <a:pt x="272669" y="13335"/>
                </a:lnTo>
                <a:lnTo>
                  <a:pt x="291699" y="21597"/>
                </a:lnTo>
                <a:lnTo>
                  <a:pt x="308038" y="33051"/>
                </a:lnTo>
                <a:lnTo>
                  <a:pt x="332740" y="65531"/>
                </a:lnTo>
                <a:lnTo>
                  <a:pt x="347313" y="109219"/>
                </a:lnTo>
                <a:lnTo>
                  <a:pt x="350903" y="134417"/>
                </a:lnTo>
                <a:lnTo>
                  <a:pt x="350956" y="134790"/>
                </a:lnTo>
                <a:lnTo>
                  <a:pt x="352171" y="162813"/>
                </a:lnTo>
                <a:lnTo>
                  <a:pt x="350956" y="191845"/>
                </a:lnTo>
                <a:lnTo>
                  <a:pt x="347313" y="218186"/>
                </a:lnTo>
                <a:lnTo>
                  <a:pt x="332740" y="262889"/>
                </a:lnTo>
                <a:lnTo>
                  <a:pt x="308054" y="295767"/>
                </a:lnTo>
                <a:lnTo>
                  <a:pt x="273176" y="315595"/>
                </a:lnTo>
                <a:lnTo>
                  <a:pt x="277241" y="328929"/>
                </a:lnTo>
                <a:lnTo>
                  <a:pt x="322119" y="307895"/>
                </a:lnTo>
                <a:lnTo>
                  <a:pt x="355092" y="271525"/>
                </a:lnTo>
                <a:lnTo>
                  <a:pt x="375380" y="222678"/>
                </a:lnTo>
                <a:lnTo>
                  <a:pt x="382143" y="164591"/>
                </a:lnTo>
                <a:lnTo>
                  <a:pt x="380473" y="134790"/>
                </a:lnTo>
                <a:lnTo>
                  <a:pt x="366926" y="80974"/>
                </a:lnTo>
                <a:lnTo>
                  <a:pt x="340016" y="37468"/>
                </a:lnTo>
                <a:lnTo>
                  <a:pt x="301103" y="8616"/>
                </a:lnTo>
                <a:lnTo>
                  <a:pt x="277241" y="0"/>
                </a:lnTo>
                <a:close/>
              </a:path>
              <a:path w="382270" h="328930">
                <a:moveTo>
                  <a:pt x="104901" y="0"/>
                </a:moveTo>
                <a:lnTo>
                  <a:pt x="60229" y="21113"/>
                </a:lnTo>
                <a:lnTo>
                  <a:pt x="27178" y="57658"/>
                </a:lnTo>
                <a:lnTo>
                  <a:pt x="6826" y="106553"/>
                </a:lnTo>
                <a:lnTo>
                  <a:pt x="100" y="162813"/>
                </a:lnTo>
                <a:lnTo>
                  <a:pt x="0" y="164591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72" y="291621"/>
                </a:lnTo>
                <a:lnTo>
                  <a:pt x="81022" y="320335"/>
                </a:lnTo>
                <a:lnTo>
                  <a:pt x="104901" y="328929"/>
                </a:lnTo>
                <a:lnTo>
                  <a:pt x="109093" y="315595"/>
                </a:lnTo>
                <a:lnTo>
                  <a:pt x="90374" y="307306"/>
                </a:lnTo>
                <a:lnTo>
                  <a:pt x="74215" y="295767"/>
                </a:lnTo>
                <a:lnTo>
                  <a:pt x="49530" y="262889"/>
                </a:lnTo>
                <a:lnTo>
                  <a:pt x="34956" y="218186"/>
                </a:lnTo>
                <a:lnTo>
                  <a:pt x="30173" y="164591"/>
                </a:lnTo>
                <a:lnTo>
                  <a:pt x="30099" y="162813"/>
                </a:lnTo>
                <a:lnTo>
                  <a:pt x="31313" y="134790"/>
                </a:lnTo>
                <a:lnTo>
                  <a:pt x="41028" y="86125"/>
                </a:lnTo>
                <a:lnTo>
                  <a:pt x="60630" y="47696"/>
                </a:lnTo>
                <a:lnTo>
                  <a:pt x="90642" y="21597"/>
                </a:lnTo>
                <a:lnTo>
                  <a:pt x="109600" y="13335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671696" y="1856612"/>
            <a:ext cx="28536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00810" algn="l"/>
                <a:tab pos="2287905" algn="l"/>
              </a:tabLst>
            </a:pP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15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−𝑅</a:t>
            </a:r>
            <a:r>
              <a:rPr dirty="0" sz="2800" spc="600">
                <a:latin typeface="Cambria Math"/>
                <a:cs typeface="Cambria Math"/>
              </a:rPr>
              <a:t> </a:t>
            </a:r>
            <a:r>
              <a:rPr dirty="0" sz="2800" spc="-50">
                <a:latin typeface="Cambria Math"/>
                <a:cs typeface="Cambria Math"/>
              </a:rPr>
              <a:t>𝑡</a:t>
            </a:r>
            <a:r>
              <a:rPr dirty="0" sz="2800">
                <a:latin typeface="Cambria Math"/>
                <a:cs typeface="Cambria Math"/>
              </a:rPr>
              <a:t>	⋅</a:t>
            </a:r>
            <a:r>
              <a:rPr dirty="0" sz="2800" spc="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𝜉</a:t>
            </a:r>
            <a:r>
              <a:rPr dirty="0" sz="2800" spc="635">
                <a:latin typeface="Cambria Math"/>
                <a:cs typeface="Cambria Math"/>
              </a:rPr>
              <a:t> </a:t>
            </a:r>
            <a:r>
              <a:rPr dirty="0" sz="2800" spc="-50">
                <a:latin typeface="Cambria Math"/>
                <a:cs typeface="Cambria Math"/>
              </a:rPr>
              <a:t>𝑡</a:t>
            </a:r>
            <a:r>
              <a:rPr dirty="0" sz="2800">
                <a:latin typeface="Cambria Math"/>
                <a:cs typeface="Cambria Math"/>
              </a:rPr>
              <a:t>	⋅ 𝜂</a:t>
            </a:r>
            <a:r>
              <a:rPr dirty="0" sz="2800" spc="145">
                <a:latin typeface="Cambria Math"/>
                <a:cs typeface="Cambria Math"/>
              </a:rPr>
              <a:t> </a:t>
            </a:r>
            <a:r>
              <a:rPr dirty="0" sz="2800" spc="-50">
                <a:latin typeface="Times New Roman"/>
                <a:cs typeface="Times New Roman"/>
              </a:rPr>
              <a:t>,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301988" y="1856612"/>
            <a:ext cx="4406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5">
                <a:latin typeface="Times New Roman"/>
                <a:cs typeface="Times New Roman"/>
              </a:rPr>
              <a:t>(1)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29500" y="2783458"/>
            <a:ext cx="273050" cy="236220"/>
          </a:xfrm>
          <a:custGeom>
            <a:avLst/>
            <a:gdLst/>
            <a:ahLst/>
            <a:cxnLst/>
            <a:rect l="l" t="t" r="r" b="b"/>
            <a:pathLst>
              <a:path w="273050" h="236219">
                <a:moveTo>
                  <a:pt x="197548" y="0"/>
                </a:moveTo>
                <a:lnTo>
                  <a:pt x="194183" y="9525"/>
                </a:lnTo>
                <a:lnTo>
                  <a:pt x="207829" y="15501"/>
                </a:lnTo>
                <a:lnTo>
                  <a:pt x="219567" y="23717"/>
                </a:lnTo>
                <a:lnTo>
                  <a:pt x="243398" y="61652"/>
                </a:lnTo>
                <a:lnTo>
                  <a:pt x="251231" y="116712"/>
                </a:lnTo>
                <a:lnTo>
                  <a:pt x="250357" y="137477"/>
                </a:lnTo>
                <a:lnTo>
                  <a:pt x="237248" y="188340"/>
                </a:lnTo>
                <a:lnTo>
                  <a:pt x="207996" y="220255"/>
                </a:lnTo>
                <a:lnTo>
                  <a:pt x="194564" y="226187"/>
                </a:lnTo>
                <a:lnTo>
                  <a:pt x="197548" y="235712"/>
                </a:lnTo>
                <a:lnTo>
                  <a:pt x="242580" y="208994"/>
                </a:lnTo>
                <a:lnTo>
                  <a:pt x="267884" y="159607"/>
                </a:lnTo>
                <a:lnTo>
                  <a:pt x="272732" y="117982"/>
                </a:lnTo>
                <a:lnTo>
                  <a:pt x="271528" y="96565"/>
                </a:lnTo>
                <a:lnTo>
                  <a:pt x="261786" y="57993"/>
                </a:lnTo>
                <a:lnTo>
                  <a:pt x="229617" y="15112"/>
                </a:lnTo>
                <a:lnTo>
                  <a:pt x="214633" y="6163"/>
                </a:lnTo>
                <a:lnTo>
                  <a:pt x="197548" y="0"/>
                </a:lnTo>
                <a:close/>
              </a:path>
              <a:path w="273050" h="236219">
                <a:moveTo>
                  <a:pt x="75184" y="0"/>
                </a:moveTo>
                <a:lnTo>
                  <a:pt x="30221" y="26824"/>
                </a:lnTo>
                <a:lnTo>
                  <a:pt x="4859" y="76342"/>
                </a:lnTo>
                <a:lnTo>
                  <a:pt x="71" y="116712"/>
                </a:lnTo>
                <a:lnTo>
                  <a:pt x="0" y="117982"/>
                </a:lnTo>
                <a:lnTo>
                  <a:pt x="1091" y="137477"/>
                </a:lnTo>
                <a:lnTo>
                  <a:pt x="10903" y="177919"/>
                </a:lnTo>
                <a:lnTo>
                  <a:pt x="43024" y="220662"/>
                </a:lnTo>
                <a:lnTo>
                  <a:pt x="75184" y="235712"/>
                </a:lnTo>
                <a:lnTo>
                  <a:pt x="78168" y="226187"/>
                </a:lnTo>
                <a:lnTo>
                  <a:pt x="64733" y="220255"/>
                </a:lnTo>
                <a:lnTo>
                  <a:pt x="53138" y="211978"/>
                </a:lnTo>
                <a:lnTo>
                  <a:pt x="29361" y="173291"/>
                </a:lnTo>
                <a:lnTo>
                  <a:pt x="21554" y="117982"/>
                </a:lnTo>
                <a:lnTo>
                  <a:pt x="21501" y="116712"/>
                </a:lnTo>
                <a:lnTo>
                  <a:pt x="22374" y="96565"/>
                </a:lnTo>
                <a:lnTo>
                  <a:pt x="35471" y="46862"/>
                </a:lnTo>
                <a:lnTo>
                  <a:pt x="64942" y="15501"/>
                </a:lnTo>
                <a:lnTo>
                  <a:pt x="78536" y="9525"/>
                </a:lnTo>
                <a:lnTo>
                  <a:pt x="751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27456" y="2707005"/>
            <a:ext cx="79819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Times New Roman"/>
                <a:cs typeface="Times New Roman"/>
              </a:rPr>
              <a:t>где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Cambria Math"/>
                <a:cs typeface="Cambria Math"/>
              </a:rPr>
              <a:t>𝑅</a:t>
            </a:r>
            <a:r>
              <a:rPr dirty="0" sz="2000" spc="375">
                <a:latin typeface="Cambria Math"/>
                <a:cs typeface="Cambria Math"/>
              </a:rPr>
              <a:t> </a:t>
            </a:r>
            <a:r>
              <a:rPr dirty="0" sz="2000" spc="-60">
                <a:latin typeface="Cambria Math"/>
                <a:cs typeface="Cambria Math"/>
              </a:rPr>
              <a:t>𝑡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970405" y="2747263"/>
            <a:ext cx="656590" cy="307975"/>
          </a:xfrm>
          <a:custGeom>
            <a:avLst/>
            <a:gdLst/>
            <a:ahLst/>
            <a:cxnLst/>
            <a:rect l="l" t="t" r="r" b="b"/>
            <a:pathLst>
              <a:path w="656589" h="307975">
                <a:moveTo>
                  <a:pt x="83820" y="10160"/>
                </a:moveTo>
                <a:lnTo>
                  <a:pt x="80772" y="0"/>
                </a:lnTo>
                <a:lnTo>
                  <a:pt x="62458" y="7150"/>
                </a:lnTo>
                <a:lnTo>
                  <a:pt x="46380" y="18326"/>
                </a:lnTo>
                <a:lnTo>
                  <a:pt x="20955" y="52832"/>
                </a:lnTo>
                <a:lnTo>
                  <a:pt x="5232" y="99415"/>
                </a:lnTo>
                <a:lnTo>
                  <a:pt x="0" y="153924"/>
                </a:lnTo>
                <a:lnTo>
                  <a:pt x="1244" y="180809"/>
                </a:lnTo>
                <a:lnTo>
                  <a:pt x="11785" y="232346"/>
                </a:lnTo>
                <a:lnTo>
                  <a:pt x="32550" y="273939"/>
                </a:lnTo>
                <a:lnTo>
                  <a:pt x="62458" y="300329"/>
                </a:lnTo>
                <a:lnTo>
                  <a:pt x="80772" y="307467"/>
                </a:lnTo>
                <a:lnTo>
                  <a:pt x="83820" y="297307"/>
                </a:lnTo>
                <a:lnTo>
                  <a:pt x="69748" y="289953"/>
                </a:lnTo>
                <a:lnTo>
                  <a:pt x="57467" y="279298"/>
                </a:lnTo>
                <a:lnTo>
                  <a:pt x="31584" y="227863"/>
                </a:lnTo>
                <a:lnTo>
                  <a:pt x="23825" y="180809"/>
                </a:lnTo>
                <a:lnTo>
                  <a:pt x="22860" y="153924"/>
                </a:lnTo>
                <a:lnTo>
                  <a:pt x="23825" y="126885"/>
                </a:lnTo>
                <a:lnTo>
                  <a:pt x="31584" y="79692"/>
                </a:lnTo>
                <a:lnTo>
                  <a:pt x="46990" y="42202"/>
                </a:lnTo>
                <a:lnTo>
                  <a:pt x="69748" y="17526"/>
                </a:lnTo>
                <a:lnTo>
                  <a:pt x="83820" y="10160"/>
                </a:lnTo>
                <a:close/>
              </a:path>
              <a:path w="656589" h="307975">
                <a:moveTo>
                  <a:pt x="348234" y="45720"/>
                </a:moveTo>
                <a:lnTo>
                  <a:pt x="344932" y="36195"/>
                </a:lnTo>
                <a:lnTo>
                  <a:pt x="327799" y="42367"/>
                </a:lnTo>
                <a:lnTo>
                  <a:pt x="312813" y="51308"/>
                </a:lnTo>
                <a:lnTo>
                  <a:pt x="280670" y="94195"/>
                </a:lnTo>
                <a:lnTo>
                  <a:pt x="270954" y="132537"/>
                </a:lnTo>
                <a:lnTo>
                  <a:pt x="269748" y="154178"/>
                </a:lnTo>
                <a:lnTo>
                  <a:pt x="270840" y="173672"/>
                </a:lnTo>
                <a:lnTo>
                  <a:pt x="270954" y="175831"/>
                </a:lnTo>
                <a:lnTo>
                  <a:pt x="280670" y="214122"/>
                </a:lnTo>
                <a:lnTo>
                  <a:pt x="312762" y="256857"/>
                </a:lnTo>
                <a:lnTo>
                  <a:pt x="344932" y="271907"/>
                </a:lnTo>
                <a:lnTo>
                  <a:pt x="347853" y="262382"/>
                </a:lnTo>
                <a:lnTo>
                  <a:pt x="334467" y="256451"/>
                </a:lnTo>
                <a:lnTo>
                  <a:pt x="322897" y="248183"/>
                </a:lnTo>
                <a:lnTo>
                  <a:pt x="299085" y="209486"/>
                </a:lnTo>
                <a:lnTo>
                  <a:pt x="291261" y="154178"/>
                </a:lnTo>
                <a:lnTo>
                  <a:pt x="291211" y="152908"/>
                </a:lnTo>
                <a:lnTo>
                  <a:pt x="292087" y="132765"/>
                </a:lnTo>
                <a:lnTo>
                  <a:pt x="305181" y="83058"/>
                </a:lnTo>
                <a:lnTo>
                  <a:pt x="334683" y="51701"/>
                </a:lnTo>
                <a:lnTo>
                  <a:pt x="348234" y="45720"/>
                </a:lnTo>
                <a:close/>
              </a:path>
              <a:path w="656589" h="307975">
                <a:moveTo>
                  <a:pt x="542417" y="154178"/>
                </a:moveTo>
                <a:lnTo>
                  <a:pt x="541210" y="132765"/>
                </a:lnTo>
                <a:lnTo>
                  <a:pt x="541197" y="132537"/>
                </a:lnTo>
                <a:lnTo>
                  <a:pt x="537552" y="112547"/>
                </a:lnTo>
                <a:lnTo>
                  <a:pt x="512216" y="63030"/>
                </a:lnTo>
                <a:lnTo>
                  <a:pt x="467233" y="36195"/>
                </a:lnTo>
                <a:lnTo>
                  <a:pt x="463931" y="45720"/>
                </a:lnTo>
                <a:lnTo>
                  <a:pt x="477545" y="51701"/>
                </a:lnTo>
                <a:lnTo>
                  <a:pt x="489254" y="59918"/>
                </a:lnTo>
                <a:lnTo>
                  <a:pt x="513130" y="97853"/>
                </a:lnTo>
                <a:lnTo>
                  <a:pt x="520052" y="132537"/>
                </a:lnTo>
                <a:lnTo>
                  <a:pt x="520090" y="132765"/>
                </a:lnTo>
                <a:lnTo>
                  <a:pt x="520065" y="173672"/>
                </a:lnTo>
                <a:lnTo>
                  <a:pt x="506984" y="224536"/>
                </a:lnTo>
                <a:lnTo>
                  <a:pt x="477761" y="256451"/>
                </a:lnTo>
                <a:lnTo>
                  <a:pt x="464312" y="262382"/>
                </a:lnTo>
                <a:lnTo>
                  <a:pt x="467233" y="271907"/>
                </a:lnTo>
                <a:lnTo>
                  <a:pt x="512318" y="245198"/>
                </a:lnTo>
                <a:lnTo>
                  <a:pt x="537565" y="195808"/>
                </a:lnTo>
                <a:lnTo>
                  <a:pt x="541197" y="175831"/>
                </a:lnTo>
                <a:lnTo>
                  <a:pt x="542417" y="154178"/>
                </a:lnTo>
                <a:close/>
              </a:path>
              <a:path w="656589" h="307975">
                <a:moveTo>
                  <a:pt x="656323" y="153924"/>
                </a:moveTo>
                <a:lnTo>
                  <a:pt x="651078" y="99415"/>
                </a:lnTo>
                <a:lnTo>
                  <a:pt x="635254" y="52832"/>
                </a:lnTo>
                <a:lnTo>
                  <a:pt x="609828" y="18326"/>
                </a:lnTo>
                <a:lnTo>
                  <a:pt x="575564" y="0"/>
                </a:lnTo>
                <a:lnTo>
                  <a:pt x="572389" y="10160"/>
                </a:lnTo>
                <a:lnTo>
                  <a:pt x="586524" y="17526"/>
                </a:lnTo>
                <a:lnTo>
                  <a:pt x="598843" y="28194"/>
                </a:lnTo>
                <a:lnTo>
                  <a:pt x="624738" y="79692"/>
                </a:lnTo>
                <a:lnTo>
                  <a:pt x="632498" y="126885"/>
                </a:lnTo>
                <a:lnTo>
                  <a:pt x="633476" y="153924"/>
                </a:lnTo>
                <a:lnTo>
                  <a:pt x="632498" y="180809"/>
                </a:lnTo>
                <a:lnTo>
                  <a:pt x="624738" y="227863"/>
                </a:lnTo>
                <a:lnTo>
                  <a:pt x="609333" y="265328"/>
                </a:lnTo>
                <a:lnTo>
                  <a:pt x="572389" y="297307"/>
                </a:lnTo>
                <a:lnTo>
                  <a:pt x="575564" y="307467"/>
                </a:lnTo>
                <a:lnTo>
                  <a:pt x="609828" y="289153"/>
                </a:lnTo>
                <a:lnTo>
                  <a:pt x="635254" y="254635"/>
                </a:lnTo>
                <a:lnTo>
                  <a:pt x="651078" y="208127"/>
                </a:lnTo>
                <a:lnTo>
                  <a:pt x="655015" y="181952"/>
                </a:lnTo>
                <a:lnTo>
                  <a:pt x="656323" y="153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256411" y="2707005"/>
            <a:ext cx="120586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805815" algn="l"/>
              </a:tabLst>
            </a:pP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95">
                <a:latin typeface="Cambria Math"/>
                <a:cs typeface="Cambria Math"/>
              </a:rPr>
              <a:t> </a:t>
            </a:r>
            <a:r>
              <a:rPr dirty="0" sz="2000" spc="-25">
                <a:latin typeface="Cambria Math"/>
                <a:cs typeface="Cambria Math"/>
              </a:rPr>
              <a:t>𝑅</a:t>
            </a:r>
            <a:r>
              <a:rPr dirty="0" baseline="-15325" sz="2175" spc="-37">
                <a:latin typeface="Cambria Math"/>
                <a:cs typeface="Cambria Math"/>
              </a:rPr>
              <a:t>𝑜𝑥</a:t>
            </a:r>
            <a:r>
              <a:rPr dirty="0" baseline="-15325" sz="2175">
                <a:latin typeface="Cambria Math"/>
                <a:cs typeface="Cambria Math"/>
              </a:rPr>
              <a:t>	</a:t>
            </a:r>
            <a:r>
              <a:rPr dirty="0" sz="2000">
                <a:latin typeface="Cambria Math"/>
                <a:cs typeface="Cambria Math"/>
              </a:rPr>
              <a:t>𝑇</a:t>
            </a:r>
            <a:r>
              <a:rPr dirty="0" sz="2000" spc="400">
                <a:latin typeface="Cambria Math"/>
                <a:cs typeface="Cambria Math"/>
              </a:rPr>
              <a:t> </a:t>
            </a:r>
            <a:r>
              <a:rPr dirty="0" sz="2000" spc="-50">
                <a:latin typeface="Cambria Math"/>
                <a:cs typeface="Cambria Math"/>
              </a:rPr>
              <a:t>𝑡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348101" y="2747263"/>
            <a:ext cx="640080" cy="307975"/>
          </a:xfrm>
          <a:custGeom>
            <a:avLst/>
            <a:gdLst/>
            <a:ahLst/>
            <a:cxnLst/>
            <a:rect l="l" t="t" r="r" b="b"/>
            <a:pathLst>
              <a:path w="640079" h="307975">
                <a:moveTo>
                  <a:pt x="83820" y="10160"/>
                </a:moveTo>
                <a:lnTo>
                  <a:pt x="80772" y="0"/>
                </a:lnTo>
                <a:lnTo>
                  <a:pt x="62458" y="7150"/>
                </a:lnTo>
                <a:lnTo>
                  <a:pt x="46380" y="18326"/>
                </a:lnTo>
                <a:lnTo>
                  <a:pt x="20955" y="52832"/>
                </a:lnTo>
                <a:lnTo>
                  <a:pt x="5232" y="99415"/>
                </a:lnTo>
                <a:lnTo>
                  <a:pt x="0" y="153924"/>
                </a:lnTo>
                <a:lnTo>
                  <a:pt x="1244" y="180809"/>
                </a:lnTo>
                <a:lnTo>
                  <a:pt x="11785" y="232346"/>
                </a:lnTo>
                <a:lnTo>
                  <a:pt x="32550" y="273939"/>
                </a:lnTo>
                <a:lnTo>
                  <a:pt x="62458" y="300329"/>
                </a:lnTo>
                <a:lnTo>
                  <a:pt x="80772" y="307467"/>
                </a:lnTo>
                <a:lnTo>
                  <a:pt x="83820" y="297307"/>
                </a:lnTo>
                <a:lnTo>
                  <a:pt x="69748" y="289953"/>
                </a:lnTo>
                <a:lnTo>
                  <a:pt x="57467" y="279298"/>
                </a:lnTo>
                <a:lnTo>
                  <a:pt x="31584" y="227863"/>
                </a:lnTo>
                <a:lnTo>
                  <a:pt x="23825" y="180809"/>
                </a:lnTo>
                <a:lnTo>
                  <a:pt x="22860" y="153924"/>
                </a:lnTo>
                <a:lnTo>
                  <a:pt x="23825" y="126885"/>
                </a:lnTo>
                <a:lnTo>
                  <a:pt x="31584" y="79692"/>
                </a:lnTo>
                <a:lnTo>
                  <a:pt x="46990" y="42202"/>
                </a:lnTo>
                <a:lnTo>
                  <a:pt x="69748" y="17526"/>
                </a:lnTo>
                <a:lnTo>
                  <a:pt x="83820" y="10160"/>
                </a:lnTo>
                <a:close/>
              </a:path>
              <a:path w="640079" h="307975">
                <a:moveTo>
                  <a:pt x="331470" y="45720"/>
                </a:moveTo>
                <a:lnTo>
                  <a:pt x="328168" y="36195"/>
                </a:lnTo>
                <a:lnTo>
                  <a:pt x="311035" y="42367"/>
                </a:lnTo>
                <a:lnTo>
                  <a:pt x="296049" y="51308"/>
                </a:lnTo>
                <a:lnTo>
                  <a:pt x="263906" y="94195"/>
                </a:lnTo>
                <a:lnTo>
                  <a:pt x="254190" y="132537"/>
                </a:lnTo>
                <a:lnTo>
                  <a:pt x="252984" y="154178"/>
                </a:lnTo>
                <a:lnTo>
                  <a:pt x="254076" y="173672"/>
                </a:lnTo>
                <a:lnTo>
                  <a:pt x="254190" y="175831"/>
                </a:lnTo>
                <a:lnTo>
                  <a:pt x="263906" y="214122"/>
                </a:lnTo>
                <a:lnTo>
                  <a:pt x="295998" y="256857"/>
                </a:lnTo>
                <a:lnTo>
                  <a:pt x="328168" y="271907"/>
                </a:lnTo>
                <a:lnTo>
                  <a:pt x="331089" y="262382"/>
                </a:lnTo>
                <a:lnTo>
                  <a:pt x="317703" y="256451"/>
                </a:lnTo>
                <a:lnTo>
                  <a:pt x="306133" y="248183"/>
                </a:lnTo>
                <a:lnTo>
                  <a:pt x="282321" y="209486"/>
                </a:lnTo>
                <a:lnTo>
                  <a:pt x="274497" y="154178"/>
                </a:lnTo>
                <a:lnTo>
                  <a:pt x="274447" y="152908"/>
                </a:lnTo>
                <a:lnTo>
                  <a:pt x="275323" y="132765"/>
                </a:lnTo>
                <a:lnTo>
                  <a:pt x="288417" y="83058"/>
                </a:lnTo>
                <a:lnTo>
                  <a:pt x="317919" y="51701"/>
                </a:lnTo>
                <a:lnTo>
                  <a:pt x="331470" y="45720"/>
                </a:lnTo>
                <a:close/>
              </a:path>
              <a:path w="640079" h="307975">
                <a:moveTo>
                  <a:pt x="525653" y="154178"/>
                </a:moveTo>
                <a:lnTo>
                  <a:pt x="524446" y="132765"/>
                </a:lnTo>
                <a:lnTo>
                  <a:pt x="524433" y="132537"/>
                </a:lnTo>
                <a:lnTo>
                  <a:pt x="520788" y="112547"/>
                </a:lnTo>
                <a:lnTo>
                  <a:pt x="495452" y="63030"/>
                </a:lnTo>
                <a:lnTo>
                  <a:pt x="450469" y="36195"/>
                </a:lnTo>
                <a:lnTo>
                  <a:pt x="447167" y="45720"/>
                </a:lnTo>
                <a:lnTo>
                  <a:pt x="460781" y="51701"/>
                </a:lnTo>
                <a:lnTo>
                  <a:pt x="472503" y="59918"/>
                </a:lnTo>
                <a:lnTo>
                  <a:pt x="496366" y="97853"/>
                </a:lnTo>
                <a:lnTo>
                  <a:pt x="503288" y="132537"/>
                </a:lnTo>
                <a:lnTo>
                  <a:pt x="503326" y="132765"/>
                </a:lnTo>
                <a:lnTo>
                  <a:pt x="503301" y="173672"/>
                </a:lnTo>
                <a:lnTo>
                  <a:pt x="490220" y="224536"/>
                </a:lnTo>
                <a:lnTo>
                  <a:pt x="460997" y="256451"/>
                </a:lnTo>
                <a:lnTo>
                  <a:pt x="447548" y="262382"/>
                </a:lnTo>
                <a:lnTo>
                  <a:pt x="450469" y="271907"/>
                </a:lnTo>
                <a:lnTo>
                  <a:pt x="495554" y="245198"/>
                </a:lnTo>
                <a:lnTo>
                  <a:pt x="520801" y="195808"/>
                </a:lnTo>
                <a:lnTo>
                  <a:pt x="524433" y="175831"/>
                </a:lnTo>
                <a:lnTo>
                  <a:pt x="525653" y="154178"/>
                </a:lnTo>
                <a:close/>
              </a:path>
              <a:path w="640079" h="307975">
                <a:moveTo>
                  <a:pt x="639559" y="153924"/>
                </a:moveTo>
                <a:lnTo>
                  <a:pt x="634314" y="99415"/>
                </a:lnTo>
                <a:lnTo>
                  <a:pt x="618490" y="52832"/>
                </a:lnTo>
                <a:lnTo>
                  <a:pt x="593064" y="18326"/>
                </a:lnTo>
                <a:lnTo>
                  <a:pt x="558800" y="0"/>
                </a:lnTo>
                <a:lnTo>
                  <a:pt x="555625" y="10160"/>
                </a:lnTo>
                <a:lnTo>
                  <a:pt x="569760" y="17526"/>
                </a:lnTo>
                <a:lnTo>
                  <a:pt x="582079" y="28194"/>
                </a:lnTo>
                <a:lnTo>
                  <a:pt x="607974" y="79692"/>
                </a:lnTo>
                <a:lnTo>
                  <a:pt x="615734" y="126885"/>
                </a:lnTo>
                <a:lnTo>
                  <a:pt x="616712" y="153924"/>
                </a:lnTo>
                <a:lnTo>
                  <a:pt x="615734" y="180809"/>
                </a:lnTo>
                <a:lnTo>
                  <a:pt x="607974" y="227863"/>
                </a:lnTo>
                <a:lnTo>
                  <a:pt x="592569" y="265328"/>
                </a:lnTo>
                <a:lnTo>
                  <a:pt x="555625" y="297307"/>
                </a:lnTo>
                <a:lnTo>
                  <a:pt x="558800" y="307467"/>
                </a:lnTo>
                <a:lnTo>
                  <a:pt x="593064" y="289153"/>
                </a:lnTo>
                <a:lnTo>
                  <a:pt x="618490" y="254635"/>
                </a:lnTo>
                <a:lnTo>
                  <a:pt x="634314" y="208127"/>
                </a:lnTo>
                <a:lnTo>
                  <a:pt x="638251" y="181952"/>
                </a:lnTo>
                <a:lnTo>
                  <a:pt x="639559" y="153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667635" y="2707005"/>
            <a:ext cx="115570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772795" algn="l"/>
              </a:tabLst>
            </a:pPr>
            <a:r>
              <a:rPr dirty="0" sz="2000">
                <a:latin typeface="Cambria Math"/>
                <a:cs typeface="Cambria Math"/>
              </a:rPr>
              <a:t>+</a:t>
            </a:r>
            <a:r>
              <a:rPr dirty="0" sz="2000" spc="-10">
                <a:latin typeface="Cambria Math"/>
                <a:cs typeface="Cambria Math"/>
              </a:rPr>
              <a:t> </a:t>
            </a:r>
            <a:r>
              <a:rPr dirty="0" sz="2000" spc="-25">
                <a:latin typeface="Cambria Math"/>
                <a:cs typeface="Cambria Math"/>
              </a:rPr>
              <a:t>𝑅</a:t>
            </a:r>
            <a:r>
              <a:rPr dirty="0" baseline="-15325" sz="2175" spc="-37">
                <a:latin typeface="Cambria Math"/>
                <a:cs typeface="Cambria Math"/>
              </a:rPr>
              <a:t>𝑒𝑟</a:t>
            </a:r>
            <a:r>
              <a:rPr dirty="0" baseline="-15325" sz="2175">
                <a:latin typeface="Cambria Math"/>
                <a:cs typeface="Cambria Math"/>
              </a:rPr>
              <a:t>	</a:t>
            </a:r>
            <a:r>
              <a:rPr dirty="0" sz="2000">
                <a:latin typeface="Cambria Math"/>
                <a:cs typeface="Cambria Math"/>
              </a:rPr>
              <a:t>𝐿</a:t>
            </a:r>
            <a:r>
              <a:rPr dirty="0" sz="2000" spc="395">
                <a:latin typeface="Cambria Math"/>
                <a:cs typeface="Cambria Math"/>
              </a:rPr>
              <a:t> </a:t>
            </a:r>
            <a:r>
              <a:rPr dirty="0" sz="2000" spc="-50">
                <a:latin typeface="Cambria Math"/>
                <a:cs typeface="Cambria Math"/>
              </a:rPr>
              <a:t>𝑡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815713" y="2783458"/>
            <a:ext cx="358140" cy="236220"/>
          </a:xfrm>
          <a:custGeom>
            <a:avLst/>
            <a:gdLst/>
            <a:ahLst/>
            <a:cxnLst/>
            <a:rect l="l" t="t" r="r" b="b"/>
            <a:pathLst>
              <a:path w="358139" h="236219">
                <a:moveTo>
                  <a:pt x="282828" y="0"/>
                </a:moveTo>
                <a:lnTo>
                  <a:pt x="279526" y="9525"/>
                </a:lnTo>
                <a:lnTo>
                  <a:pt x="293147" y="15501"/>
                </a:lnTo>
                <a:lnTo>
                  <a:pt x="304863" y="23717"/>
                </a:lnTo>
                <a:lnTo>
                  <a:pt x="328727" y="61652"/>
                </a:lnTo>
                <a:lnTo>
                  <a:pt x="335656" y="96335"/>
                </a:lnTo>
                <a:lnTo>
                  <a:pt x="335688" y="96565"/>
                </a:lnTo>
                <a:lnTo>
                  <a:pt x="335670" y="137477"/>
                </a:lnTo>
                <a:lnTo>
                  <a:pt x="322579" y="188340"/>
                </a:lnTo>
                <a:lnTo>
                  <a:pt x="293362" y="220255"/>
                </a:lnTo>
                <a:lnTo>
                  <a:pt x="279908" y="226187"/>
                </a:lnTo>
                <a:lnTo>
                  <a:pt x="282828" y="235712"/>
                </a:lnTo>
                <a:lnTo>
                  <a:pt x="327923" y="208994"/>
                </a:lnTo>
                <a:lnTo>
                  <a:pt x="353171" y="159607"/>
                </a:lnTo>
                <a:lnTo>
                  <a:pt x="358013" y="117982"/>
                </a:lnTo>
                <a:lnTo>
                  <a:pt x="356811" y="96565"/>
                </a:lnTo>
                <a:lnTo>
                  <a:pt x="347083" y="57993"/>
                </a:lnTo>
                <a:lnTo>
                  <a:pt x="314944" y="15112"/>
                </a:lnTo>
                <a:lnTo>
                  <a:pt x="299952" y="6163"/>
                </a:lnTo>
                <a:lnTo>
                  <a:pt x="282828" y="0"/>
                </a:lnTo>
                <a:close/>
              </a:path>
              <a:path w="358139" h="236219">
                <a:moveTo>
                  <a:pt x="75184" y="0"/>
                </a:moveTo>
                <a:lnTo>
                  <a:pt x="30196" y="26824"/>
                </a:lnTo>
                <a:lnTo>
                  <a:pt x="4857" y="76342"/>
                </a:lnTo>
                <a:lnTo>
                  <a:pt x="71" y="116712"/>
                </a:lnTo>
                <a:lnTo>
                  <a:pt x="0" y="117982"/>
                </a:lnTo>
                <a:lnTo>
                  <a:pt x="1093" y="137477"/>
                </a:lnTo>
                <a:lnTo>
                  <a:pt x="1214" y="139628"/>
                </a:lnTo>
                <a:lnTo>
                  <a:pt x="4857" y="159607"/>
                </a:lnTo>
                <a:lnTo>
                  <a:pt x="30142" y="208994"/>
                </a:lnTo>
                <a:lnTo>
                  <a:pt x="75184" y="235712"/>
                </a:lnTo>
                <a:lnTo>
                  <a:pt x="78104" y="226187"/>
                </a:lnTo>
                <a:lnTo>
                  <a:pt x="64722" y="220255"/>
                </a:lnTo>
                <a:lnTo>
                  <a:pt x="53149" y="211978"/>
                </a:lnTo>
                <a:lnTo>
                  <a:pt x="29338" y="173291"/>
                </a:lnTo>
                <a:lnTo>
                  <a:pt x="21516" y="117982"/>
                </a:lnTo>
                <a:lnTo>
                  <a:pt x="21462" y="116712"/>
                </a:lnTo>
                <a:lnTo>
                  <a:pt x="22342" y="96565"/>
                </a:lnTo>
                <a:lnTo>
                  <a:pt x="35433" y="46862"/>
                </a:lnTo>
                <a:lnTo>
                  <a:pt x="64936" y="15501"/>
                </a:lnTo>
                <a:lnTo>
                  <a:pt x="78486" y="9525"/>
                </a:lnTo>
                <a:lnTo>
                  <a:pt x="751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886325" y="2707005"/>
            <a:ext cx="439864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74015" algn="l"/>
              </a:tabLst>
            </a:pPr>
            <a:r>
              <a:rPr dirty="0" sz="2000" spc="-50">
                <a:latin typeface="Cambria Math"/>
                <a:cs typeface="Cambria Math"/>
              </a:rPr>
              <a:t>𝑁</a:t>
            </a:r>
            <a:r>
              <a:rPr dirty="0" sz="2000">
                <a:latin typeface="Cambria Math"/>
                <a:cs typeface="Cambria Math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–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Cambria Math"/>
                <a:cs typeface="Cambria Math"/>
              </a:rPr>
              <a:t>суммарная</a:t>
            </a:r>
            <a:r>
              <a:rPr dirty="0" sz="2000" spc="-3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скорость</a:t>
            </a:r>
            <a:r>
              <a:rPr dirty="0" sz="2000" spc="-30">
                <a:latin typeface="Cambria Math"/>
                <a:cs typeface="Cambria Math"/>
              </a:rPr>
              <a:t> </a:t>
            </a:r>
            <a:r>
              <a:rPr dirty="0" sz="2000" spc="-10">
                <a:latin typeface="Cambria Math"/>
                <a:cs typeface="Cambria Math"/>
              </a:rPr>
              <a:t>деградации;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74877" y="3400805"/>
            <a:ext cx="245745" cy="248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60">
                <a:latin typeface="Cambria Math"/>
                <a:cs typeface="Cambria Math"/>
              </a:rPr>
              <a:t>𝑜𝑥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44384" y="3320287"/>
            <a:ext cx="656590" cy="307975"/>
          </a:xfrm>
          <a:custGeom>
            <a:avLst/>
            <a:gdLst/>
            <a:ahLst/>
            <a:cxnLst/>
            <a:rect l="l" t="t" r="r" b="b"/>
            <a:pathLst>
              <a:path w="656589" h="307975">
                <a:moveTo>
                  <a:pt x="83883" y="10160"/>
                </a:moveTo>
                <a:lnTo>
                  <a:pt x="80772" y="0"/>
                </a:lnTo>
                <a:lnTo>
                  <a:pt x="62496" y="7150"/>
                </a:lnTo>
                <a:lnTo>
                  <a:pt x="46443" y="18326"/>
                </a:lnTo>
                <a:lnTo>
                  <a:pt x="21005" y="52832"/>
                </a:lnTo>
                <a:lnTo>
                  <a:pt x="5245" y="99415"/>
                </a:lnTo>
                <a:lnTo>
                  <a:pt x="0" y="153924"/>
                </a:lnTo>
                <a:lnTo>
                  <a:pt x="1257" y="180809"/>
                </a:lnTo>
                <a:lnTo>
                  <a:pt x="1308" y="181952"/>
                </a:lnTo>
                <a:lnTo>
                  <a:pt x="11811" y="232346"/>
                </a:lnTo>
                <a:lnTo>
                  <a:pt x="32613" y="273939"/>
                </a:lnTo>
                <a:lnTo>
                  <a:pt x="62496" y="300329"/>
                </a:lnTo>
                <a:lnTo>
                  <a:pt x="80772" y="307467"/>
                </a:lnTo>
                <a:lnTo>
                  <a:pt x="83883" y="297307"/>
                </a:lnTo>
                <a:lnTo>
                  <a:pt x="69748" y="289953"/>
                </a:lnTo>
                <a:lnTo>
                  <a:pt x="57454" y="279298"/>
                </a:lnTo>
                <a:lnTo>
                  <a:pt x="31559" y="227863"/>
                </a:lnTo>
                <a:lnTo>
                  <a:pt x="23825" y="180809"/>
                </a:lnTo>
                <a:lnTo>
                  <a:pt x="22860" y="153924"/>
                </a:lnTo>
                <a:lnTo>
                  <a:pt x="23825" y="126885"/>
                </a:lnTo>
                <a:lnTo>
                  <a:pt x="31559" y="79692"/>
                </a:lnTo>
                <a:lnTo>
                  <a:pt x="46977" y="42202"/>
                </a:lnTo>
                <a:lnTo>
                  <a:pt x="69748" y="17526"/>
                </a:lnTo>
                <a:lnTo>
                  <a:pt x="83883" y="10160"/>
                </a:lnTo>
                <a:close/>
              </a:path>
              <a:path w="656589" h="307975">
                <a:moveTo>
                  <a:pt x="348246" y="45720"/>
                </a:moveTo>
                <a:lnTo>
                  <a:pt x="344944" y="36195"/>
                </a:lnTo>
                <a:lnTo>
                  <a:pt x="327812" y="42367"/>
                </a:lnTo>
                <a:lnTo>
                  <a:pt x="312826" y="51308"/>
                </a:lnTo>
                <a:lnTo>
                  <a:pt x="280682" y="94195"/>
                </a:lnTo>
                <a:lnTo>
                  <a:pt x="270967" y="132537"/>
                </a:lnTo>
                <a:lnTo>
                  <a:pt x="269760" y="154178"/>
                </a:lnTo>
                <a:lnTo>
                  <a:pt x="270852" y="173672"/>
                </a:lnTo>
                <a:lnTo>
                  <a:pt x="270967" y="175831"/>
                </a:lnTo>
                <a:lnTo>
                  <a:pt x="280682" y="214122"/>
                </a:lnTo>
                <a:lnTo>
                  <a:pt x="312775" y="256857"/>
                </a:lnTo>
                <a:lnTo>
                  <a:pt x="344944" y="271907"/>
                </a:lnTo>
                <a:lnTo>
                  <a:pt x="347865" y="262382"/>
                </a:lnTo>
                <a:lnTo>
                  <a:pt x="334479" y="256451"/>
                </a:lnTo>
                <a:lnTo>
                  <a:pt x="322910" y="248183"/>
                </a:lnTo>
                <a:lnTo>
                  <a:pt x="299097" y="209486"/>
                </a:lnTo>
                <a:lnTo>
                  <a:pt x="291274" y="154178"/>
                </a:lnTo>
                <a:lnTo>
                  <a:pt x="291223" y="152908"/>
                </a:lnTo>
                <a:lnTo>
                  <a:pt x="292100" y="132765"/>
                </a:lnTo>
                <a:lnTo>
                  <a:pt x="305193" y="83058"/>
                </a:lnTo>
                <a:lnTo>
                  <a:pt x="334695" y="51701"/>
                </a:lnTo>
                <a:lnTo>
                  <a:pt x="348246" y="45720"/>
                </a:lnTo>
                <a:close/>
              </a:path>
              <a:path w="656589" h="307975">
                <a:moveTo>
                  <a:pt x="542429" y="154178"/>
                </a:moveTo>
                <a:lnTo>
                  <a:pt x="541223" y="132765"/>
                </a:lnTo>
                <a:lnTo>
                  <a:pt x="541210" y="132537"/>
                </a:lnTo>
                <a:lnTo>
                  <a:pt x="537565" y="112547"/>
                </a:lnTo>
                <a:lnTo>
                  <a:pt x="512229" y="63030"/>
                </a:lnTo>
                <a:lnTo>
                  <a:pt x="467245" y="36195"/>
                </a:lnTo>
                <a:lnTo>
                  <a:pt x="463943" y="45720"/>
                </a:lnTo>
                <a:lnTo>
                  <a:pt x="477558" y="51701"/>
                </a:lnTo>
                <a:lnTo>
                  <a:pt x="489267" y="59918"/>
                </a:lnTo>
                <a:lnTo>
                  <a:pt x="513143" y="97853"/>
                </a:lnTo>
                <a:lnTo>
                  <a:pt x="520065" y="132537"/>
                </a:lnTo>
                <a:lnTo>
                  <a:pt x="520103" y="132765"/>
                </a:lnTo>
                <a:lnTo>
                  <a:pt x="520077" y="173672"/>
                </a:lnTo>
                <a:lnTo>
                  <a:pt x="506996" y="224536"/>
                </a:lnTo>
                <a:lnTo>
                  <a:pt x="477774" y="256451"/>
                </a:lnTo>
                <a:lnTo>
                  <a:pt x="464324" y="262382"/>
                </a:lnTo>
                <a:lnTo>
                  <a:pt x="467245" y="271907"/>
                </a:lnTo>
                <a:lnTo>
                  <a:pt x="512330" y="245198"/>
                </a:lnTo>
                <a:lnTo>
                  <a:pt x="537578" y="195808"/>
                </a:lnTo>
                <a:lnTo>
                  <a:pt x="541210" y="175831"/>
                </a:lnTo>
                <a:lnTo>
                  <a:pt x="542429" y="154178"/>
                </a:lnTo>
                <a:close/>
              </a:path>
              <a:path w="656589" h="307975">
                <a:moveTo>
                  <a:pt x="656336" y="153924"/>
                </a:moveTo>
                <a:lnTo>
                  <a:pt x="651090" y="99415"/>
                </a:lnTo>
                <a:lnTo>
                  <a:pt x="635266" y="52832"/>
                </a:lnTo>
                <a:lnTo>
                  <a:pt x="609841" y="18326"/>
                </a:lnTo>
                <a:lnTo>
                  <a:pt x="575576" y="0"/>
                </a:lnTo>
                <a:lnTo>
                  <a:pt x="572401" y="10160"/>
                </a:lnTo>
                <a:lnTo>
                  <a:pt x="586536" y="17526"/>
                </a:lnTo>
                <a:lnTo>
                  <a:pt x="598855" y="28194"/>
                </a:lnTo>
                <a:lnTo>
                  <a:pt x="624751" y="79692"/>
                </a:lnTo>
                <a:lnTo>
                  <a:pt x="632510" y="126885"/>
                </a:lnTo>
                <a:lnTo>
                  <a:pt x="633488" y="153924"/>
                </a:lnTo>
                <a:lnTo>
                  <a:pt x="632510" y="180809"/>
                </a:lnTo>
                <a:lnTo>
                  <a:pt x="624751" y="227863"/>
                </a:lnTo>
                <a:lnTo>
                  <a:pt x="609346" y="265328"/>
                </a:lnTo>
                <a:lnTo>
                  <a:pt x="572401" y="297307"/>
                </a:lnTo>
                <a:lnTo>
                  <a:pt x="575576" y="307467"/>
                </a:lnTo>
                <a:lnTo>
                  <a:pt x="609841" y="289153"/>
                </a:lnTo>
                <a:lnTo>
                  <a:pt x="635266" y="254635"/>
                </a:lnTo>
                <a:lnTo>
                  <a:pt x="651090" y="208127"/>
                </a:lnTo>
                <a:lnTo>
                  <a:pt x="655027" y="181952"/>
                </a:lnTo>
                <a:lnTo>
                  <a:pt x="656336" y="153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2283079" y="3400805"/>
            <a:ext cx="133350" cy="248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-50">
                <a:latin typeface="Cambria Math"/>
                <a:cs typeface="Cambria Math"/>
              </a:rPr>
              <a:t>0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7905" y="3279724"/>
            <a:ext cx="229743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18159" algn="l"/>
                <a:tab pos="1175385" algn="l"/>
                <a:tab pos="1751330" algn="l"/>
              </a:tabLst>
            </a:pPr>
            <a:r>
              <a:rPr dirty="0" sz="2000" spc="-50">
                <a:latin typeface="Cambria Math"/>
                <a:cs typeface="Cambria Math"/>
              </a:rPr>
              <a:t>𝑅</a:t>
            </a:r>
            <a:r>
              <a:rPr dirty="0" sz="2000">
                <a:latin typeface="Cambria Math"/>
                <a:cs typeface="Cambria Math"/>
              </a:rPr>
              <a:t>	𝑇</a:t>
            </a:r>
            <a:r>
              <a:rPr dirty="0" sz="2000" spc="409">
                <a:latin typeface="Cambria Math"/>
                <a:cs typeface="Cambria Math"/>
              </a:rPr>
              <a:t> </a:t>
            </a:r>
            <a:r>
              <a:rPr dirty="0" sz="2000" spc="-50">
                <a:latin typeface="Cambria Math"/>
                <a:cs typeface="Cambria Math"/>
              </a:rPr>
              <a:t>𝑡</a:t>
            </a:r>
            <a:r>
              <a:rPr dirty="0" sz="2000">
                <a:latin typeface="Cambria Math"/>
                <a:cs typeface="Cambria Math"/>
              </a:rPr>
              <a:t>	=</a:t>
            </a:r>
            <a:r>
              <a:rPr dirty="0" sz="2000" spc="105">
                <a:latin typeface="Cambria Math"/>
                <a:cs typeface="Cambria Math"/>
              </a:rPr>
              <a:t> </a:t>
            </a:r>
            <a:r>
              <a:rPr dirty="0" sz="2000" spc="-60">
                <a:latin typeface="Cambria Math"/>
                <a:cs typeface="Cambria Math"/>
              </a:rPr>
              <a:t>𝑘</a:t>
            </a:r>
            <a:r>
              <a:rPr dirty="0" sz="2000">
                <a:latin typeface="Cambria Math"/>
                <a:cs typeface="Cambria Math"/>
              </a:rPr>
              <a:t>	⋅ </a:t>
            </a:r>
            <a:r>
              <a:rPr dirty="0" sz="2000" spc="-25">
                <a:latin typeface="Cambria Math"/>
                <a:cs typeface="Cambria Math"/>
              </a:rPr>
              <a:t>𝑒𝑥𝑝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063621" y="3098037"/>
            <a:ext cx="3067685" cy="752475"/>
          </a:xfrm>
          <a:custGeom>
            <a:avLst/>
            <a:gdLst/>
            <a:ahLst/>
            <a:cxnLst/>
            <a:rect l="l" t="t" r="r" b="b"/>
            <a:pathLst>
              <a:path w="3067685" h="752475">
                <a:moveTo>
                  <a:pt x="127127" y="8763"/>
                </a:moveTo>
                <a:lnTo>
                  <a:pt x="92697" y="30086"/>
                </a:lnTo>
                <a:lnTo>
                  <a:pt x="69227" y="65252"/>
                </a:lnTo>
                <a:lnTo>
                  <a:pt x="48831" y="105524"/>
                </a:lnTo>
                <a:lnTo>
                  <a:pt x="31496" y="150876"/>
                </a:lnTo>
                <a:lnTo>
                  <a:pt x="20167" y="190588"/>
                </a:lnTo>
                <a:lnTo>
                  <a:pt x="11353" y="232892"/>
                </a:lnTo>
                <a:lnTo>
                  <a:pt x="5041" y="277812"/>
                </a:lnTo>
                <a:lnTo>
                  <a:pt x="1257" y="325361"/>
                </a:lnTo>
                <a:lnTo>
                  <a:pt x="0" y="375539"/>
                </a:lnTo>
                <a:lnTo>
                  <a:pt x="1257" y="426021"/>
                </a:lnTo>
                <a:lnTo>
                  <a:pt x="5041" y="473811"/>
                </a:lnTo>
                <a:lnTo>
                  <a:pt x="11353" y="518922"/>
                </a:lnTo>
                <a:lnTo>
                  <a:pt x="20167" y="561352"/>
                </a:lnTo>
                <a:lnTo>
                  <a:pt x="31496" y="601091"/>
                </a:lnTo>
                <a:lnTo>
                  <a:pt x="48831" y="646480"/>
                </a:lnTo>
                <a:lnTo>
                  <a:pt x="69227" y="686790"/>
                </a:lnTo>
                <a:lnTo>
                  <a:pt x="92697" y="722007"/>
                </a:lnTo>
                <a:lnTo>
                  <a:pt x="119253" y="752094"/>
                </a:lnTo>
                <a:lnTo>
                  <a:pt x="127127" y="743204"/>
                </a:lnTo>
                <a:lnTo>
                  <a:pt x="103517" y="712685"/>
                </a:lnTo>
                <a:lnTo>
                  <a:pt x="82994" y="677291"/>
                </a:lnTo>
                <a:lnTo>
                  <a:pt x="65506" y="637057"/>
                </a:lnTo>
                <a:lnTo>
                  <a:pt x="51054" y="591947"/>
                </a:lnTo>
                <a:lnTo>
                  <a:pt x="39801" y="542861"/>
                </a:lnTo>
                <a:lnTo>
                  <a:pt x="31788" y="490448"/>
                </a:lnTo>
                <a:lnTo>
                  <a:pt x="26987" y="434759"/>
                </a:lnTo>
                <a:lnTo>
                  <a:pt x="25400" y="375793"/>
                </a:lnTo>
                <a:lnTo>
                  <a:pt x="26987" y="317030"/>
                </a:lnTo>
                <a:lnTo>
                  <a:pt x="31788" y="261480"/>
                </a:lnTo>
                <a:lnTo>
                  <a:pt x="39801" y="209156"/>
                </a:lnTo>
                <a:lnTo>
                  <a:pt x="51054" y="160020"/>
                </a:lnTo>
                <a:lnTo>
                  <a:pt x="65506" y="114998"/>
                </a:lnTo>
                <a:lnTo>
                  <a:pt x="82994" y="74777"/>
                </a:lnTo>
                <a:lnTo>
                  <a:pt x="103517" y="39370"/>
                </a:lnTo>
                <a:lnTo>
                  <a:pt x="127127" y="8763"/>
                </a:lnTo>
                <a:close/>
              </a:path>
              <a:path w="3067685" h="752475">
                <a:moveTo>
                  <a:pt x="644652" y="367919"/>
                </a:moveTo>
                <a:lnTo>
                  <a:pt x="368808" y="367919"/>
                </a:lnTo>
                <a:lnTo>
                  <a:pt x="368808" y="384683"/>
                </a:lnTo>
                <a:lnTo>
                  <a:pt x="644652" y="384683"/>
                </a:lnTo>
                <a:lnTo>
                  <a:pt x="644652" y="367919"/>
                </a:lnTo>
                <a:close/>
              </a:path>
              <a:path w="3067685" h="752475">
                <a:moveTo>
                  <a:pt x="3067291" y="375793"/>
                </a:moveTo>
                <a:lnTo>
                  <a:pt x="3066046" y="325361"/>
                </a:lnTo>
                <a:lnTo>
                  <a:pt x="3062287" y="277812"/>
                </a:lnTo>
                <a:lnTo>
                  <a:pt x="3056001" y="232892"/>
                </a:lnTo>
                <a:lnTo>
                  <a:pt x="3047174" y="190588"/>
                </a:lnTo>
                <a:lnTo>
                  <a:pt x="3035808" y="150876"/>
                </a:lnTo>
                <a:lnTo>
                  <a:pt x="3018536" y="105524"/>
                </a:lnTo>
                <a:lnTo>
                  <a:pt x="2998178" y="65252"/>
                </a:lnTo>
                <a:lnTo>
                  <a:pt x="2974721" y="30086"/>
                </a:lnTo>
                <a:lnTo>
                  <a:pt x="2948178" y="0"/>
                </a:lnTo>
                <a:lnTo>
                  <a:pt x="2940177" y="8763"/>
                </a:lnTo>
                <a:lnTo>
                  <a:pt x="2963849" y="39370"/>
                </a:lnTo>
                <a:lnTo>
                  <a:pt x="2984398" y="74777"/>
                </a:lnTo>
                <a:lnTo>
                  <a:pt x="3001861" y="114998"/>
                </a:lnTo>
                <a:lnTo>
                  <a:pt x="3016250" y="160020"/>
                </a:lnTo>
                <a:lnTo>
                  <a:pt x="3027502" y="209156"/>
                </a:lnTo>
                <a:lnTo>
                  <a:pt x="3035566" y="261480"/>
                </a:lnTo>
                <a:lnTo>
                  <a:pt x="3040405" y="317030"/>
                </a:lnTo>
                <a:lnTo>
                  <a:pt x="3042018" y="375539"/>
                </a:lnTo>
                <a:lnTo>
                  <a:pt x="3042031" y="375793"/>
                </a:lnTo>
                <a:lnTo>
                  <a:pt x="3040405" y="434759"/>
                </a:lnTo>
                <a:lnTo>
                  <a:pt x="3035566" y="490448"/>
                </a:lnTo>
                <a:lnTo>
                  <a:pt x="3027502" y="542861"/>
                </a:lnTo>
                <a:lnTo>
                  <a:pt x="3016250" y="591947"/>
                </a:lnTo>
                <a:lnTo>
                  <a:pt x="3001861" y="637057"/>
                </a:lnTo>
                <a:lnTo>
                  <a:pt x="2984398" y="677291"/>
                </a:lnTo>
                <a:lnTo>
                  <a:pt x="2963849" y="712685"/>
                </a:lnTo>
                <a:lnTo>
                  <a:pt x="2940177" y="743204"/>
                </a:lnTo>
                <a:lnTo>
                  <a:pt x="2948178" y="752094"/>
                </a:lnTo>
                <a:lnTo>
                  <a:pt x="2974721" y="722007"/>
                </a:lnTo>
                <a:lnTo>
                  <a:pt x="2998178" y="686790"/>
                </a:lnTo>
                <a:lnTo>
                  <a:pt x="3018536" y="646480"/>
                </a:lnTo>
                <a:lnTo>
                  <a:pt x="3035808" y="601091"/>
                </a:lnTo>
                <a:lnTo>
                  <a:pt x="3047174" y="561352"/>
                </a:lnTo>
                <a:lnTo>
                  <a:pt x="3056001" y="518922"/>
                </a:lnTo>
                <a:lnTo>
                  <a:pt x="3062287" y="473811"/>
                </a:lnTo>
                <a:lnTo>
                  <a:pt x="3066046" y="426021"/>
                </a:lnTo>
                <a:lnTo>
                  <a:pt x="3067291" y="3757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473577" y="3451097"/>
            <a:ext cx="18796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0">
                <a:latin typeface="Cambria Math"/>
                <a:cs typeface="Cambria Math"/>
              </a:rPr>
              <a:t>𝑅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771773" y="3149472"/>
            <a:ext cx="2202815" cy="648970"/>
          </a:xfrm>
          <a:custGeom>
            <a:avLst/>
            <a:gdLst/>
            <a:ahLst/>
            <a:cxnLst/>
            <a:rect l="l" t="t" r="r" b="b"/>
            <a:pathLst>
              <a:path w="2202815" h="648970">
                <a:moveTo>
                  <a:pt x="116967" y="9271"/>
                </a:moveTo>
                <a:lnTo>
                  <a:pt x="65303" y="54457"/>
                </a:lnTo>
                <a:lnTo>
                  <a:pt x="46329" y="89763"/>
                </a:lnTo>
                <a:lnTo>
                  <a:pt x="29972" y="130429"/>
                </a:lnTo>
                <a:lnTo>
                  <a:pt x="16865" y="175056"/>
                </a:lnTo>
                <a:lnTo>
                  <a:pt x="7505" y="222224"/>
                </a:lnTo>
                <a:lnTo>
                  <a:pt x="1866" y="271919"/>
                </a:lnTo>
                <a:lnTo>
                  <a:pt x="0" y="324231"/>
                </a:lnTo>
                <a:lnTo>
                  <a:pt x="1790" y="373557"/>
                </a:lnTo>
                <a:lnTo>
                  <a:pt x="7505" y="425043"/>
                </a:lnTo>
                <a:lnTo>
                  <a:pt x="16865" y="472313"/>
                </a:lnTo>
                <a:lnTo>
                  <a:pt x="29972" y="517398"/>
                </a:lnTo>
                <a:lnTo>
                  <a:pt x="46329" y="558622"/>
                </a:lnTo>
                <a:lnTo>
                  <a:pt x="65303" y="594271"/>
                </a:lnTo>
                <a:lnTo>
                  <a:pt x="111125" y="648843"/>
                </a:lnTo>
                <a:lnTo>
                  <a:pt x="116967" y="639699"/>
                </a:lnTo>
                <a:lnTo>
                  <a:pt x="96151" y="614794"/>
                </a:lnTo>
                <a:lnTo>
                  <a:pt x="77889" y="584860"/>
                </a:lnTo>
                <a:lnTo>
                  <a:pt x="62191" y="549884"/>
                </a:lnTo>
                <a:lnTo>
                  <a:pt x="49022" y="509905"/>
                </a:lnTo>
                <a:lnTo>
                  <a:pt x="38531" y="466382"/>
                </a:lnTo>
                <a:lnTo>
                  <a:pt x="31076" y="420928"/>
                </a:lnTo>
                <a:lnTo>
                  <a:pt x="26619" y="373557"/>
                </a:lnTo>
                <a:lnTo>
                  <a:pt x="25146" y="324231"/>
                </a:lnTo>
                <a:lnTo>
                  <a:pt x="26631" y="273926"/>
                </a:lnTo>
                <a:lnTo>
                  <a:pt x="31127" y="226047"/>
                </a:lnTo>
                <a:lnTo>
                  <a:pt x="38582" y="180632"/>
                </a:lnTo>
                <a:lnTo>
                  <a:pt x="49022" y="137668"/>
                </a:lnTo>
                <a:lnTo>
                  <a:pt x="62255" y="98361"/>
                </a:lnTo>
                <a:lnTo>
                  <a:pt x="96215" y="34163"/>
                </a:lnTo>
                <a:lnTo>
                  <a:pt x="116967" y="9271"/>
                </a:lnTo>
                <a:close/>
              </a:path>
              <a:path w="2202815" h="648970">
                <a:moveTo>
                  <a:pt x="573532" y="316484"/>
                </a:moveTo>
                <a:lnTo>
                  <a:pt x="125476" y="316484"/>
                </a:lnTo>
                <a:lnTo>
                  <a:pt x="125476" y="333248"/>
                </a:lnTo>
                <a:lnTo>
                  <a:pt x="573532" y="333248"/>
                </a:lnTo>
                <a:lnTo>
                  <a:pt x="573532" y="316484"/>
                </a:lnTo>
                <a:close/>
              </a:path>
              <a:path w="2202815" h="648970">
                <a:moveTo>
                  <a:pt x="2202802" y="324231"/>
                </a:moveTo>
                <a:lnTo>
                  <a:pt x="2200999" y="273926"/>
                </a:lnTo>
                <a:lnTo>
                  <a:pt x="2200935" y="271919"/>
                </a:lnTo>
                <a:lnTo>
                  <a:pt x="2195296" y="222224"/>
                </a:lnTo>
                <a:lnTo>
                  <a:pt x="2185936" y="175056"/>
                </a:lnTo>
                <a:lnTo>
                  <a:pt x="2172843" y="130429"/>
                </a:lnTo>
                <a:lnTo>
                  <a:pt x="2156472" y="89763"/>
                </a:lnTo>
                <a:lnTo>
                  <a:pt x="2137499" y="54457"/>
                </a:lnTo>
                <a:lnTo>
                  <a:pt x="2091690" y="0"/>
                </a:lnTo>
                <a:lnTo>
                  <a:pt x="2085848" y="9271"/>
                </a:lnTo>
                <a:lnTo>
                  <a:pt x="2106587" y="34163"/>
                </a:lnTo>
                <a:lnTo>
                  <a:pt x="2124811" y="63855"/>
                </a:lnTo>
                <a:lnTo>
                  <a:pt x="2153793" y="137668"/>
                </a:lnTo>
                <a:lnTo>
                  <a:pt x="2164270" y="180632"/>
                </a:lnTo>
                <a:lnTo>
                  <a:pt x="2171725" y="226047"/>
                </a:lnTo>
                <a:lnTo>
                  <a:pt x="2176183" y="273926"/>
                </a:lnTo>
                <a:lnTo>
                  <a:pt x="2177669" y="324231"/>
                </a:lnTo>
                <a:lnTo>
                  <a:pt x="2176183" y="373557"/>
                </a:lnTo>
                <a:lnTo>
                  <a:pt x="2171738" y="420928"/>
                </a:lnTo>
                <a:lnTo>
                  <a:pt x="2164321" y="466382"/>
                </a:lnTo>
                <a:lnTo>
                  <a:pt x="2153920" y="509905"/>
                </a:lnTo>
                <a:lnTo>
                  <a:pt x="2140674" y="549884"/>
                </a:lnTo>
                <a:lnTo>
                  <a:pt x="2124926" y="584860"/>
                </a:lnTo>
                <a:lnTo>
                  <a:pt x="2085848" y="639699"/>
                </a:lnTo>
                <a:lnTo>
                  <a:pt x="2091690" y="648843"/>
                </a:lnTo>
                <a:lnTo>
                  <a:pt x="2137499" y="594271"/>
                </a:lnTo>
                <a:lnTo>
                  <a:pt x="2156472" y="558622"/>
                </a:lnTo>
                <a:lnTo>
                  <a:pt x="2172843" y="517398"/>
                </a:lnTo>
                <a:lnTo>
                  <a:pt x="2185936" y="472313"/>
                </a:lnTo>
                <a:lnTo>
                  <a:pt x="2195296" y="425043"/>
                </a:lnTo>
                <a:lnTo>
                  <a:pt x="2200935" y="375640"/>
                </a:lnTo>
                <a:lnTo>
                  <a:pt x="2202802" y="3242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3148964" y="2735379"/>
            <a:ext cx="1678939" cy="875665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917575">
              <a:lnSpc>
                <a:spcPct val="100000"/>
              </a:lnSpc>
              <a:spcBef>
                <a:spcPts val="285"/>
              </a:spcBef>
            </a:pPr>
            <a:r>
              <a:rPr dirty="0" baseline="11111" sz="3000">
                <a:latin typeface="Cambria Math"/>
                <a:cs typeface="Cambria Math"/>
              </a:rPr>
              <a:t>+</a:t>
            </a:r>
            <a:r>
              <a:rPr dirty="0" baseline="11111" sz="3000" spc="-15">
                <a:latin typeface="Cambria Math"/>
                <a:cs typeface="Cambria Math"/>
              </a:rPr>
              <a:t> </a:t>
            </a:r>
            <a:r>
              <a:rPr dirty="0" baseline="11111" sz="3000" spc="44">
                <a:latin typeface="Cambria Math"/>
                <a:cs typeface="Cambria Math"/>
              </a:rPr>
              <a:t>𝑅</a:t>
            </a:r>
            <a:r>
              <a:rPr dirty="0" sz="1450" spc="30">
                <a:latin typeface="Cambria Math"/>
                <a:cs typeface="Cambria Math"/>
              </a:rPr>
              <a:t>𝑐𝑦𝑐</a:t>
            </a:r>
            <a:endParaRPr sz="1450">
              <a:latin typeface="Cambria Math"/>
              <a:cs typeface="Cambria Math"/>
            </a:endParaRPr>
          </a:p>
          <a:p>
            <a:pPr marL="283845">
              <a:lnSpc>
                <a:spcPts val="1955"/>
              </a:lnSpc>
              <a:spcBef>
                <a:spcPts val="195"/>
              </a:spcBef>
              <a:tabLst>
                <a:tab pos="901065" algn="l"/>
              </a:tabLst>
            </a:pPr>
            <a:r>
              <a:rPr dirty="0" sz="2000" spc="-25">
                <a:latin typeface="Cambria Math"/>
                <a:cs typeface="Cambria Math"/>
              </a:rPr>
              <a:t>𝐸</a:t>
            </a:r>
            <a:r>
              <a:rPr dirty="0" baseline="-15325" sz="2175" spc="-37">
                <a:latin typeface="Cambria Math"/>
                <a:cs typeface="Cambria Math"/>
              </a:rPr>
              <a:t>𝑎</a:t>
            </a:r>
            <a:r>
              <a:rPr dirty="0" baseline="-15325" sz="2175">
                <a:latin typeface="Cambria Math"/>
                <a:cs typeface="Cambria Math"/>
              </a:rPr>
              <a:t>	</a:t>
            </a:r>
            <a:r>
              <a:rPr dirty="0" sz="2000" spc="-50">
                <a:latin typeface="Cambria Math"/>
                <a:cs typeface="Cambria Math"/>
              </a:rPr>
              <a:t>1</a:t>
            </a:r>
            <a:endParaRPr sz="2000">
              <a:latin typeface="Cambria Math"/>
              <a:cs typeface="Cambria Math"/>
            </a:endParaRPr>
          </a:p>
          <a:p>
            <a:pPr marL="50800">
              <a:lnSpc>
                <a:spcPts val="1955"/>
              </a:lnSpc>
            </a:pPr>
            <a:r>
              <a:rPr dirty="0" sz="2000" spc="-50">
                <a:latin typeface="Cambria Math"/>
                <a:cs typeface="Cambria Math"/>
              </a:rPr>
              <a:t>−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859657" y="3502913"/>
            <a:ext cx="50927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11111" sz="3000" spc="-30">
                <a:latin typeface="Cambria Math"/>
                <a:cs typeface="Cambria Math"/>
              </a:rPr>
              <a:t>𝑇</a:t>
            </a:r>
            <a:r>
              <a:rPr dirty="0" sz="1450" spc="-20">
                <a:latin typeface="Cambria Math"/>
                <a:cs typeface="Cambria Math"/>
              </a:rPr>
              <a:t>𝑟𝑒𝑓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389501" y="3279724"/>
            <a:ext cx="21590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0">
                <a:latin typeface="Cambria Math"/>
                <a:cs typeface="Cambria Math"/>
              </a:rPr>
              <a:t>−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648581" y="3465956"/>
            <a:ext cx="1201420" cy="297180"/>
          </a:xfrm>
          <a:custGeom>
            <a:avLst/>
            <a:gdLst/>
            <a:ahLst/>
            <a:cxnLst/>
            <a:rect l="l" t="t" r="r" b="b"/>
            <a:pathLst>
              <a:path w="1201420" h="297179">
                <a:moveTo>
                  <a:pt x="256286" y="70739"/>
                </a:moveTo>
                <a:lnTo>
                  <a:pt x="252984" y="61214"/>
                </a:lnTo>
                <a:lnTo>
                  <a:pt x="235851" y="67386"/>
                </a:lnTo>
                <a:lnTo>
                  <a:pt x="220865" y="76327"/>
                </a:lnTo>
                <a:lnTo>
                  <a:pt x="188722" y="119214"/>
                </a:lnTo>
                <a:lnTo>
                  <a:pt x="179006" y="157556"/>
                </a:lnTo>
                <a:lnTo>
                  <a:pt x="177800" y="179197"/>
                </a:lnTo>
                <a:lnTo>
                  <a:pt x="178892" y="198691"/>
                </a:lnTo>
                <a:lnTo>
                  <a:pt x="179006" y="200850"/>
                </a:lnTo>
                <a:lnTo>
                  <a:pt x="188722" y="239141"/>
                </a:lnTo>
                <a:lnTo>
                  <a:pt x="220814" y="281876"/>
                </a:lnTo>
                <a:lnTo>
                  <a:pt x="252984" y="296926"/>
                </a:lnTo>
                <a:lnTo>
                  <a:pt x="255905" y="287401"/>
                </a:lnTo>
                <a:lnTo>
                  <a:pt x="242519" y="281470"/>
                </a:lnTo>
                <a:lnTo>
                  <a:pt x="230949" y="273202"/>
                </a:lnTo>
                <a:lnTo>
                  <a:pt x="207137" y="234505"/>
                </a:lnTo>
                <a:lnTo>
                  <a:pt x="199313" y="179197"/>
                </a:lnTo>
                <a:lnTo>
                  <a:pt x="199263" y="177927"/>
                </a:lnTo>
                <a:lnTo>
                  <a:pt x="200139" y="157784"/>
                </a:lnTo>
                <a:lnTo>
                  <a:pt x="213233" y="108077"/>
                </a:lnTo>
                <a:lnTo>
                  <a:pt x="242735" y="76720"/>
                </a:lnTo>
                <a:lnTo>
                  <a:pt x="256286" y="70739"/>
                </a:lnTo>
                <a:close/>
              </a:path>
              <a:path w="1201420" h="297179">
                <a:moveTo>
                  <a:pt x="450469" y="179197"/>
                </a:moveTo>
                <a:lnTo>
                  <a:pt x="449262" y="157784"/>
                </a:lnTo>
                <a:lnTo>
                  <a:pt x="449249" y="157556"/>
                </a:lnTo>
                <a:lnTo>
                  <a:pt x="445604" y="137566"/>
                </a:lnTo>
                <a:lnTo>
                  <a:pt x="420268" y="88049"/>
                </a:lnTo>
                <a:lnTo>
                  <a:pt x="375285" y="61214"/>
                </a:lnTo>
                <a:lnTo>
                  <a:pt x="371983" y="70739"/>
                </a:lnTo>
                <a:lnTo>
                  <a:pt x="385597" y="76720"/>
                </a:lnTo>
                <a:lnTo>
                  <a:pt x="397319" y="84937"/>
                </a:lnTo>
                <a:lnTo>
                  <a:pt x="421182" y="122872"/>
                </a:lnTo>
                <a:lnTo>
                  <a:pt x="428104" y="157556"/>
                </a:lnTo>
                <a:lnTo>
                  <a:pt x="428142" y="157784"/>
                </a:lnTo>
                <a:lnTo>
                  <a:pt x="428117" y="198691"/>
                </a:lnTo>
                <a:lnTo>
                  <a:pt x="415036" y="249555"/>
                </a:lnTo>
                <a:lnTo>
                  <a:pt x="385813" y="281470"/>
                </a:lnTo>
                <a:lnTo>
                  <a:pt x="372364" y="287401"/>
                </a:lnTo>
                <a:lnTo>
                  <a:pt x="375285" y="296926"/>
                </a:lnTo>
                <a:lnTo>
                  <a:pt x="420370" y="270217"/>
                </a:lnTo>
                <a:lnTo>
                  <a:pt x="445617" y="220827"/>
                </a:lnTo>
                <a:lnTo>
                  <a:pt x="449249" y="200850"/>
                </a:lnTo>
                <a:lnTo>
                  <a:pt x="450469" y="179197"/>
                </a:lnTo>
                <a:close/>
              </a:path>
              <a:path w="1201420" h="297179">
                <a:moveTo>
                  <a:pt x="1200912" y="0"/>
                </a:moveTo>
                <a:lnTo>
                  <a:pt x="0" y="0"/>
                </a:lnTo>
                <a:lnTo>
                  <a:pt x="0" y="16764"/>
                </a:lnTo>
                <a:lnTo>
                  <a:pt x="1200912" y="16764"/>
                </a:lnTo>
                <a:lnTo>
                  <a:pt x="12009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5165216" y="3087700"/>
            <a:ext cx="16700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0">
                <a:latin typeface="Cambria Math"/>
                <a:cs typeface="Cambria Math"/>
              </a:rPr>
              <a:t>1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636389" y="3451097"/>
            <a:ext cx="122428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41020" algn="l"/>
              </a:tabLst>
            </a:pPr>
            <a:r>
              <a:rPr dirty="0" sz="2000">
                <a:latin typeface="Cambria Math"/>
                <a:cs typeface="Cambria Math"/>
              </a:rPr>
              <a:t>𝑇</a:t>
            </a:r>
            <a:r>
              <a:rPr dirty="0" sz="2000" spc="409">
                <a:latin typeface="Cambria Math"/>
                <a:cs typeface="Cambria Math"/>
              </a:rPr>
              <a:t> </a:t>
            </a:r>
            <a:r>
              <a:rPr dirty="0" sz="2000" spc="-50">
                <a:latin typeface="Cambria Math"/>
                <a:cs typeface="Cambria Math"/>
              </a:rPr>
              <a:t>𝑡</a:t>
            </a:r>
            <a:r>
              <a:rPr dirty="0" sz="2000">
                <a:latin typeface="Cambria Math"/>
                <a:cs typeface="Cambria Math"/>
              </a:rPr>
              <a:t>	+</a:t>
            </a:r>
            <a:r>
              <a:rPr dirty="0" sz="2000" spc="-10">
                <a:latin typeface="Cambria Math"/>
                <a:cs typeface="Cambria Math"/>
              </a:rPr>
              <a:t> </a:t>
            </a:r>
            <a:r>
              <a:rPr dirty="0" sz="2000" spc="-25">
                <a:latin typeface="Cambria Math"/>
                <a:cs typeface="Cambria Math"/>
              </a:rPr>
              <a:t>273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180582" y="3279724"/>
            <a:ext cx="243586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Times New Roman"/>
                <a:cs typeface="Times New Roman"/>
              </a:rPr>
              <a:t>–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скорость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окисления;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180960" y="3885691"/>
            <a:ext cx="640080" cy="307975"/>
          </a:xfrm>
          <a:custGeom>
            <a:avLst/>
            <a:gdLst/>
            <a:ahLst/>
            <a:cxnLst/>
            <a:rect l="l" t="t" r="r" b="b"/>
            <a:pathLst>
              <a:path w="640080" h="307975">
                <a:moveTo>
                  <a:pt x="83883" y="10160"/>
                </a:moveTo>
                <a:lnTo>
                  <a:pt x="80772" y="0"/>
                </a:lnTo>
                <a:lnTo>
                  <a:pt x="62496" y="7150"/>
                </a:lnTo>
                <a:lnTo>
                  <a:pt x="46443" y="18326"/>
                </a:lnTo>
                <a:lnTo>
                  <a:pt x="21005" y="52832"/>
                </a:lnTo>
                <a:lnTo>
                  <a:pt x="5245" y="99415"/>
                </a:lnTo>
                <a:lnTo>
                  <a:pt x="0" y="153924"/>
                </a:lnTo>
                <a:lnTo>
                  <a:pt x="1257" y="180809"/>
                </a:lnTo>
                <a:lnTo>
                  <a:pt x="1308" y="181952"/>
                </a:lnTo>
                <a:lnTo>
                  <a:pt x="11811" y="232346"/>
                </a:lnTo>
                <a:lnTo>
                  <a:pt x="32613" y="273939"/>
                </a:lnTo>
                <a:lnTo>
                  <a:pt x="62496" y="300329"/>
                </a:lnTo>
                <a:lnTo>
                  <a:pt x="80772" y="307467"/>
                </a:lnTo>
                <a:lnTo>
                  <a:pt x="83883" y="297307"/>
                </a:lnTo>
                <a:lnTo>
                  <a:pt x="69748" y="289953"/>
                </a:lnTo>
                <a:lnTo>
                  <a:pt x="57454" y="279298"/>
                </a:lnTo>
                <a:lnTo>
                  <a:pt x="31559" y="227863"/>
                </a:lnTo>
                <a:lnTo>
                  <a:pt x="23825" y="180809"/>
                </a:lnTo>
                <a:lnTo>
                  <a:pt x="22860" y="153924"/>
                </a:lnTo>
                <a:lnTo>
                  <a:pt x="23825" y="126885"/>
                </a:lnTo>
                <a:lnTo>
                  <a:pt x="31559" y="79692"/>
                </a:lnTo>
                <a:lnTo>
                  <a:pt x="46977" y="42202"/>
                </a:lnTo>
                <a:lnTo>
                  <a:pt x="69748" y="17526"/>
                </a:lnTo>
                <a:lnTo>
                  <a:pt x="83883" y="10160"/>
                </a:lnTo>
                <a:close/>
              </a:path>
              <a:path w="640080" h="307975">
                <a:moveTo>
                  <a:pt x="331482" y="45720"/>
                </a:moveTo>
                <a:lnTo>
                  <a:pt x="328180" y="36195"/>
                </a:lnTo>
                <a:lnTo>
                  <a:pt x="311048" y="42367"/>
                </a:lnTo>
                <a:lnTo>
                  <a:pt x="296062" y="51308"/>
                </a:lnTo>
                <a:lnTo>
                  <a:pt x="263918" y="94195"/>
                </a:lnTo>
                <a:lnTo>
                  <a:pt x="254203" y="132537"/>
                </a:lnTo>
                <a:lnTo>
                  <a:pt x="252996" y="154178"/>
                </a:lnTo>
                <a:lnTo>
                  <a:pt x="254088" y="173672"/>
                </a:lnTo>
                <a:lnTo>
                  <a:pt x="254203" y="175831"/>
                </a:lnTo>
                <a:lnTo>
                  <a:pt x="263918" y="214122"/>
                </a:lnTo>
                <a:lnTo>
                  <a:pt x="296011" y="256857"/>
                </a:lnTo>
                <a:lnTo>
                  <a:pt x="328180" y="271907"/>
                </a:lnTo>
                <a:lnTo>
                  <a:pt x="331101" y="262382"/>
                </a:lnTo>
                <a:lnTo>
                  <a:pt x="317715" y="256451"/>
                </a:lnTo>
                <a:lnTo>
                  <a:pt x="306146" y="248183"/>
                </a:lnTo>
                <a:lnTo>
                  <a:pt x="282333" y="209486"/>
                </a:lnTo>
                <a:lnTo>
                  <a:pt x="274510" y="154178"/>
                </a:lnTo>
                <a:lnTo>
                  <a:pt x="274459" y="152908"/>
                </a:lnTo>
                <a:lnTo>
                  <a:pt x="275336" y="132765"/>
                </a:lnTo>
                <a:lnTo>
                  <a:pt x="288429" y="83058"/>
                </a:lnTo>
                <a:lnTo>
                  <a:pt x="317931" y="51701"/>
                </a:lnTo>
                <a:lnTo>
                  <a:pt x="331482" y="45720"/>
                </a:lnTo>
                <a:close/>
              </a:path>
              <a:path w="640080" h="307975">
                <a:moveTo>
                  <a:pt x="525665" y="154178"/>
                </a:moveTo>
                <a:lnTo>
                  <a:pt x="524459" y="132765"/>
                </a:lnTo>
                <a:lnTo>
                  <a:pt x="524446" y="132537"/>
                </a:lnTo>
                <a:lnTo>
                  <a:pt x="520801" y="112547"/>
                </a:lnTo>
                <a:lnTo>
                  <a:pt x="495465" y="63030"/>
                </a:lnTo>
                <a:lnTo>
                  <a:pt x="450481" y="36195"/>
                </a:lnTo>
                <a:lnTo>
                  <a:pt x="447167" y="45720"/>
                </a:lnTo>
                <a:lnTo>
                  <a:pt x="460794" y="51701"/>
                </a:lnTo>
                <a:lnTo>
                  <a:pt x="472516" y="59918"/>
                </a:lnTo>
                <a:lnTo>
                  <a:pt x="496379" y="97853"/>
                </a:lnTo>
                <a:lnTo>
                  <a:pt x="503301" y="132537"/>
                </a:lnTo>
                <a:lnTo>
                  <a:pt x="503339" y="132765"/>
                </a:lnTo>
                <a:lnTo>
                  <a:pt x="503313" y="173672"/>
                </a:lnTo>
                <a:lnTo>
                  <a:pt x="490232" y="224536"/>
                </a:lnTo>
                <a:lnTo>
                  <a:pt x="461010" y="256451"/>
                </a:lnTo>
                <a:lnTo>
                  <a:pt x="447548" y="262382"/>
                </a:lnTo>
                <a:lnTo>
                  <a:pt x="450481" y="271907"/>
                </a:lnTo>
                <a:lnTo>
                  <a:pt x="495566" y="245198"/>
                </a:lnTo>
                <a:lnTo>
                  <a:pt x="520814" y="195808"/>
                </a:lnTo>
                <a:lnTo>
                  <a:pt x="524446" y="175831"/>
                </a:lnTo>
                <a:lnTo>
                  <a:pt x="525665" y="154178"/>
                </a:lnTo>
                <a:close/>
              </a:path>
              <a:path w="640080" h="307975">
                <a:moveTo>
                  <a:pt x="639572" y="153924"/>
                </a:moveTo>
                <a:lnTo>
                  <a:pt x="634326" y="99415"/>
                </a:lnTo>
                <a:lnTo>
                  <a:pt x="618502" y="52832"/>
                </a:lnTo>
                <a:lnTo>
                  <a:pt x="593077" y="18326"/>
                </a:lnTo>
                <a:lnTo>
                  <a:pt x="558812" y="0"/>
                </a:lnTo>
                <a:lnTo>
                  <a:pt x="555637" y="10160"/>
                </a:lnTo>
                <a:lnTo>
                  <a:pt x="569772" y="17526"/>
                </a:lnTo>
                <a:lnTo>
                  <a:pt x="582091" y="28194"/>
                </a:lnTo>
                <a:lnTo>
                  <a:pt x="607987" y="79692"/>
                </a:lnTo>
                <a:lnTo>
                  <a:pt x="615746" y="126885"/>
                </a:lnTo>
                <a:lnTo>
                  <a:pt x="616724" y="153924"/>
                </a:lnTo>
                <a:lnTo>
                  <a:pt x="615746" y="180809"/>
                </a:lnTo>
                <a:lnTo>
                  <a:pt x="607987" y="227863"/>
                </a:lnTo>
                <a:lnTo>
                  <a:pt x="592582" y="265328"/>
                </a:lnTo>
                <a:lnTo>
                  <a:pt x="555637" y="297307"/>
                </a:lnTo>
                <a:lnTo>
                  <a:pt x="558812" y="307467"/>
                </a:lnTo>
                <a:lnTo>
                  <a:pt x="593077" y="289153"/>
                </a:lnTo>
                <a:lnTo>
                  <a:pt x="618502" y="254635"/>
                </a:lnTo>
                <a:lnTo>
                  <a:pt x="634326" y="208127"/>
                </a:lnTo>
                <a:lnTo>
                  <a:pt x="638263" y="181952"/>
                </a:lnTo>
                <a:lnTo>
                  <a:pt x="639572" y="153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776601" y="3921886"/>
            <a:ext cx="273050" cy="236220"/>
          </a:xfrm>
          <a:custGeom>
            <a:avLst/>
            <a:gdLst/>
            <a:ahLst/>
            <a:cxnLst/>
            <a:rect l="l" t="t" r="r" b="b"/>
            <a:pathLst>
              <a:path w="273050" h="236220">
                <a:moveTo>
                  <a:pt x="197485" y="0"/>
                </a:moveTo>
                <a:lnTo>
                  <a:pt x="194182" y="9525"/>
                </a:lnTo>
                <a:lnTo>
                  <a:pt x="207803" y="15501"/>
                </a:lnTo>
                <a:lnTo>
                  <a:pt x="219519" y="23717"/>
                </a:lnTo>
                <a:lnTo>
                  <a:pt x="243383" y="61652"/>
                </a:lnTo>
                <a:lnTo>
                  <a:pt x="250312" y="96335"/>
                </a:lnTo>
                <a:lnTo>
                  <a:pt x="250344" y="96565"/>
                </a:lnTo>
                <a:lnTo>
                  <a:pt x="250326" y="137477"/>
                </a:lnTo>
                <a:lnTo>
                  <a:pt x="237236" y="188340"/>
                </a:lnTo>
                <a:lnTo>
                  <a:pt x="208018" y="220255"/>
                </a:lnTo>
                <a:lnTo>
                  <a:pt x="194563" y="226187"/>
                </a:lnTo>
                <a:lnTo>
                  <a:pt x="197485" y="235712"/>
                </a:lnTo>
                <a:lnTo>
                  <a:pt x="242579" y="208994"/>
                </a:lnTo>
                <a:lnTo>
                  <a:pt x="267827" y="159607"/>
                </a:lnTo>
                <a:lnTo>
                  <a:pt x="272669" y="117983"/>
                </a:lnTo>
                <a:lnTo>
                  <a:pt x="271467" y="96565"/>
                </a:lnTo>
                <a:lnTo>
                  <a:pt x="261739" y="57993"/>
                </a:lnTo>
                <a:lnTo>
                  <a:pt x="229600" y="15112"/>
                </a:lnTo>
                <a:lnTo>
                  <a:pt x="214608" y="6163"/>
                </a:lnTo>
                <a:lnTo>
                  <a:pt x="197485" y="0"/>
                </a:lnTo>
                <a:close/>
              </a:path>
              <a:path w="273050" h="236220">
                <a:moveTo>
                  <a:pt x="75184" y="0"/>
                </a:moveTo>
                <a:lnTo>
                  <a:pt x="30196" y="26824"/>
                </a:lnTo>
                <a:lnTo>
                  <a:pt x="4857" y="76342"/>
                </a:lnTo>
                <a:lnTo>
                  <a:pt x="71" y="116712"/>
                </a:lnTo>
                <a:lnTo>
                  <a:pt x="0" y="117983"/>
                </a:lnTo>
                <a:lnTo>
                  <a:pt x="4857" y="159607"/>
                </a:lnTo>
                <a:lnTo>
                  <a:pt x="30142" y="208994"/>
                </a:lnTo>
                <a:lnTo>
                  <a:pt x="75184" y="235712"/>
                </a:lnTo>
                <a:lnTo>
                  <a:pt x="78105" y="226187"/>
                </a:lnTo>
                <a:lnTo>
                  <a:pt x="64722" y="220255"/>
                </a:lnTo>
                <a:lnTo>
                  <a:pt x="53149" y="211978"/>
                </a:lnTo>
                <a:lnTo>
                  <a:pt x="29338" y="173291"/>
                </a:lnTo>
                <a:lnTo>
                  <a:pt x="21516" y="117983"/>
                </a:lnTo>
                <a:lnTo>
                  <a:pt x="21462" y="116712"/>
                </a:lnTo>
                <a:lnTo>
                  <a:pt x="22342" y="96565"/>
                </a:lnTo>
                <a:lnTo>
                  <a:pt x="35432" y="46862"/>
                </a:lnTo>
                <a:lnTo>
                  <a:pt x="64936" y="15501"/>
                </a:lnTo>
                <a:lnTo>
                  <a:pt x="78486" y="9525"/>
                </a:lnTo>
                <a:lnTo>
                  <a:pt x="751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747369" y="3879951"/>
            <a:ext cx="539115" cy="67183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r>
              <a:rPr dirty="0" baseline="11111" sz="3000" spc="-37">
                <a:latin typeface="Cambria Math"/>
                <a:cs typeface="Cambria Math"/>
              </a:rPr>
              <a:t>𝑅</a:t>
            </a:r>
            <a:r>
              <a:rPr dirty="0" sz="1450" spc="-25">
                <a:latin typeface="Cambria Math"/>
                <a:cs typeface="Cambria Math"/>
              </a:rPr>
              <a:t>𝑒𝑟</a:t>
            </a:r>
            <a:endParaRPr sz="145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45"/>
              </a:spcBef>
            </a:pPr>
            <a:r>
              <a:rPr dirty="0" baseline="11111" sz="3000" spc="44">
                <a:latin typeface="Cambria Math"/>
                <a:cs typeface="Cambria Math"/>
              </a:rPr>
              <a:t>𝑅</a:t>
            </a:r>
            <a:r>
              <a:rPr dirty="0" sz="1450" spc="30">
                <a:latin typeface="Cambria Math"/>
                <a:cs typeface="Cambria Math"/>
              </a:rPr>
              <a:t>𝑐𝑦𝑐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287652" y="4244975"/>
            <a:ext cx="358140" cy="236220"/>
          </a:xfrm>
          <a:custGeom>
            <a:avLst/>
            <a:gdLst/>
            <a:ahLst/>
            <a:cxnLst/>
            <a:rect l="l" t="t" r="r" b="b"/>
            <a:pathLst>
              <a:path w="358139" h="236220">
                <a:moveTo>
                  <a:pt x="282828" y="0"/>
                </a:moveTo>
                <a:lnTo>
                  <a:pt x="279527" y="9525"/>
                </a:lnTo>
                <a:lnTo>
                  <a:pt x="293147" y="15501"/>
                </a:lnTo>
                <a:lnTo>
                  <a:pt x="304863" y="23717"/>
                </a:lnTo>
                <a:lnTo>
                  <a:pt x="328727" y="61652"/>
                </a:lnTo>
                <a:lnTo>
                  <a:pt x="336550" y="116712"/>
                </a:lnTo>
                <a:lnTo>
                  <a:pt x="335670" y="137477"/>
                </a:lnTo>
                <a:lnTo>
                  <a:pt x="322580" y="188341"/>
                </a:lnTo>
                <a:lnTo>
                  <a:pt x="293362" y="220255"/>
                </a:lnTo>
                <a:lnTo>
                  <a:pt x="279908" y="226187"/>
                </a:lnTo>
                <a:lnTo>
                  <a:pt x="282828" y="235712"/>
                </a:lnTo>
                <a:lnTo>
                  <a:pt x="327923" y="208994"/>
                </a:lnTo>
                <a:lnTo>
                  <a:pt x="353171" y="159607"/>
                </a:lnTo>
                <a:lnTo>
                  <a:pt x="358013" y="117982"/>
                </a:lnTo>
                <a:lnTo>
                  <a:pt x="356811" y="96565"/>
                </a:lnTo>
                <a:lnTo>
                  <a:pt x="347083" y="57993"/>
                </a:lnTo>
                <a:lnTo>
                  <a:pt x="314944" y="15112"/>
                </a:lnTo>
                <a:lnTo>
                  <a:pt x="299952" y="6163"/>
                </a:lnTo>
                <a:lnTo>
                  <a:pt x="282828" y="0"/>
                </a:lnTo>
                <a:close/>
              </a:path>
              <a:path w="358139" h="236220">
                <a:moveTo>
                  <a:pt x="75184" y="0"/>
                </a:moveTo>
                <a:lnTo>
                  <a:pt x="30196" y="26824"/>
                </a:lnTo>
                <a:lnTo>
                  <a:pt x="4857" y="76342"/>
                </a:lnTo>
                <a:lnTo>
                  <a:pt x="71" y="116712"/>
                </a:lnTo>
                <a:lnTo>
                  <a:pt x="0" y="117982"/>
                </a:lnTo>
                <a:lnTo>
                  <a:pt x="4857" y="159607"/>
                </a:lnTo>
                <a:lnTo>
                  <a:pt x="30142" y="208994"/>
                </a:lnTo>
                <a:lnTo>
                  <a:pt x="75184" y="235712"/>
                </a:lnTo>
                <a:lnTo>
                  <a:pt x="78105" y="226187"/>
                </a:lnTo>
                <a:lnTo>
                  <a:pt x="64722" y="220255"/>
                </a:lnTo>
                <a:lnTo>
                  <a:pt x="53149" y="211978"/>
                </a:lnTo>
                <a:lnTo>
                  <a:pt x="29338" y="173291"/>
                </a:lnTo>
                <a:lnTo>
                  <a:pt x="21516" y="117982"/>
                </a:lnTo>
                <a:lnTo>
                  <a:pt x="21462" y="116712"/>
                </a:lnTo>
                <a:lnTo>
                  <a:pt x="22342" y="96565"/>
                </a:lnTo>
                <a:lnTo>
                  <a:pt x="35433" y="46862"/>
                </a:lnTo>
                <a:lnTo>
                  <a:pt x="64936" y="15501"/>
                </a:lnTo>
                <a:lnTo>
                  <a:pt x="78485" y="9525"/>
                </a:lnTo>
                <a:lnTo>
                  <a:pt x="751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1235075" y="3828135"/>
            <a:ext cx="5002530" cy="67183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  <a:tabLst>
                <a:tab pos="677545" algn="l"/>
                <a:tab pos="1900555" algn="l"/>
              </a:tabLst>
            </a:pPr>
            <a:r>
              <a:rPr dirty="0" sz="2000">
                <a:latin typeface="Cambria Math"/>
                <a:cs typeface="Cambria Math"/>
              </a:rPr>
              <a:t>𝐿</a:t>
            </a:r>
            <a:r>
              <a:rPr dirty="0" sz="2000" spc="405">
                <a:latin typeface="Cambria Math"/>
                <a:cs typeface="Cambria Math"/>
              </a:rPr>
              <a:t> </a:t>
            </a:r>
            <a:r>
              <a:rPr dirty="0" sz="2000" spc="-50">
                <a:latin typeface="Cambria Math"/>
                <a:cs typeface="Cambria Math"/>
              </a:rPr>
              <a:t>𝑡</a:t>
            </a:r>
            <a:r>
              <a:rPr dirty="0" sz="2000">
                <a:latin typeface="Cambria Math"/>
                <a:cs typeface="Cambria Math"/>
              </a:rPr>
              <a:t>	=</a:t>
            </a:r>
            <a:r>
              <a:rPr dirty="0" sz="2000" spc="12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𝑘</a:t>
            </a:r>
            <a:r>
              <a:rPr dirty="0" baseline="-15325" sz="2175">
                <a:latin typeface="Cambria Math"/>
                <a:cs typeface="Cambria Math"/>
              </a:rPr>
              <a:t>𝑒</a:t>
            </a:r>
            <a:r>
              <a:rPr dirty="0" baseline="-15325" sz="2175" spc="382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⋅</a:t>
            </a:r>
            <a:r>
              <a:rPr dirty="0" sz="2000" spc="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𝐿</a:t>
            </a:r>
            <a:r>
              <a:rPr dirty="0" sz="2000" spc="440">
                <a:latin typeface="Cambria Math"/>
                <a:cs typeface="Cambria Math"/>
              </a:rPr>
              <a:t> </a:t>
            </a:r>
            <a:r>
              <a:rPr dirty="0" sz="2000" spc="-50">
                <a:latin typeface="Cambria Math"/>
                <a:cs typeface="Cambria Math"/>
              </a:rPr>
              <a:t>𝑡</a:t>
            </a:r>
            <a:r>
              <a:rPr dirty="0" sz="2000">
                <a:latin typeface="Cambria Math"/>
                <a:cs typeface="Cambria Math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–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скорость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эрозии;</a:t>
            </a:r>
            <a:endParaRPr sz="2000">
              <a:latin typeface="Times New Roman"/>
              <a:cs typeface="Times New Roman"/>
            </a:endParaRPr>
          </a:p>
          <a:p>
            <a:pPr marL="135255">
              <a:lnSpc>
                <a:spcPct val="100000"/>
              </a:lnSpc>
              <a:spcBef>
                <a:spcPts val="145"/>
              </a:spcBef>
              <a:tabLst>
                <a:tab pos="494665" algn="l"/>
              </a:tabLst>
            </a:pPr>
            <a:r>
              <a:rPr dirty="0" sz="2000" spc="-50">
                <a:latin typeface="Cambria Math"/>
                <a:cs typeface="Cambria Math"/>
              </a:rPr>
              <a:t>𝑁</a:t>
            </a:r>
            <a:r>
              <a:rPr dirty="0" sz="2000">
                <a:latin typeface="Cambria Math"/>
                <a:cs typeface="Cambria Math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–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скорость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термоциклической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усталости;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891400" y="4593971"/>
            <a:ext cx="273050" cy="236220"/>
          </a:xfrm>
          <a:custGeom>
            <a:avLst/>
            <a:gdLst/>
            <a:ahLst/>
            <a:cxnLst/>
            <a:rect l="l" t="t" r="r" b="b"/>
            <a:pathLst>
              <a:path w="273050" h="236220">
                <a:moveTo>
                  <a:pt x="197548" y="0"/>
                </a:moveTo>
                <a:lnTo>
                  <a:pt x="194183" y="9525"/>
                </a:lnTo>
                <a:lnTo>
                  <a:pt x="207829" y="15501"/>
                </a:lnTo>
                <a:lnTo>
                  <a:pt x="219567" y="23717"/>
                </a:lnTo>
                <a:lnTo>
                  <a:pt x="243398" y="61652"/>
                </a:lnTo>
                <a:lnTo>
                  <a:pt x="251231" y="116713"/>
                </a:lnTo>
                <a:lnTo>
                  <a:pt x="250357" y="137477"/>
                </a:lnTo>
                <a:lnTo>
                  <a:pt x="237248" y="188341"/>
                </a:lnTo>
                <a:lnTo>
                  <a:pt x="207996" y="220255"/>
                </a:lnTo>
                <a:lnTo>
                  <a:pt x="194564" y="226187"/>
                </a:lnTo>
                <a:lnTo>
                  <a:pt x="197548" y="235712"/>
                </a:lnTo>
                <a:lnTo>
                  <a:pt x="242580" y="208994"/>
                </a:lnTo>
                <a:lnTo>
                  <a:pt x="267884" y="159607"/>
                </a:lnTo>
                <a:lnTo>
                  <a:pt x="272732" y="117983"/>
                </a:lnTo>
                <a:lnTo>
                  <a:pt x="271528" y="96565"/>
                </a:lnTo>
                <a:lnTo>
                  <a:pt x="271515" y="96335"/>
                </a:lnTo>
                <a:lnTo>
                  <a:pt x="261786" y="57993"/>
                </a:lnTo>
                <a:lnTo>
                  <a:pt x="229617" y="15113"/>
                </a:lnTo>
                <a:lnTo>
                  <a:pt x="214633" y="6163"/>
                </a:lnTo>
                <a:lnTo>
                  <a:pt x="197548" y="0"/>
                </a:lnTo>
                <a:close/>
              </a:path>
              <a:path w="273050" h="236220">
                <a:moveTo>
                  <a:pt x="75184" y="0"/>
                </a:moveTo>
                <a:lnTo>
                  <a:pt x="30221" y="26824"/>
                </a:lnTo>
                <a:lnTo>
                  <a:pt x="4859" y="76342"/>
                </a:lnTo>
                <a:lnTo>
                  <a:pt x="71" y="116713"/>
                </a:lnTo>
                <a:lnTo>
                  <a:pt x="0" y="117983"/>
                </a:lnTo>
                <a:lnTo>
                  <a:pt x="4846" y="159607"/>
                </a:lnTo>
                <a:lnTo>
                  <a:pt x="30139" y="208994"/>
                </a:lnTo>
                <a:lnTo>
                  <a:pt x="75184" y="235712"/>
                </a:lnTo>
                <a:lnTo>
                  <a:pt x="78168" y="226187"/>
                </a:lnTo>
                <a:lnTo>
                  <a:pt x="64733" y="220255"/>
                </a:lnTo>
                <a:lnTo>
                  <a:pt x="53138" y="211978"/>
                </a:lnTo>
                <a:lnTo>
                  <a:pt x="29361" y="173291"/>
                </a:lnTo>
                <a:lnTo>
                  <a:pt x="21554" y="117983"/>
                </a:lnTo>
                <a:lnTo>
                  <a:pt x="21501" y="116713"/>
                </a:lnTo>
                <a:lnTo>
                  <a:pt x="22374" y="96565"/>
                </a:lnTo>
                <a:lnTo>
                  <a:pt x="35471" y="46863"/>
                </a:lnTo>
                <a:lnTo>
                  <a:pt x="64942" y="15501"/>
                </a:lnTo>
                <a:lnTo>
                  <a:pt x="78536" y="9525"/>
                </a:lnTo>
                <a:lnTo>
                  <a:pt x="751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721998" y="4557776"/>
            <a:ext cx="703580" cy="307975"/>
          </a:xfrm>
          <a:custGeom>
            <a:avLst/>
            <a:gdLst/>
            <a:ahLst/>
            <a:cxnLst/>
            <a:rect l="l" t="t" r="r" b="b"/>
            <a:pathLst>
              <a:path w="703580" h="307975">
                <a:moveTo>
                  <a:pt x="622802" y="0"/>
                </a:moveTo>
                <a:lnTo>
                  <a:pt x="619627" y="10160"/>
                </a:lnTo>
                <a:lnTo>
                  <a:pt x="633769" y="17522"/>
                </a:lnTo>
                <a:lnTo>
                  <a:pt x="646090" y="28193"/>
                </a:lnTo>
                <a:lnTo>
                  <a:pt x="671980" y="79682"/>
                </a:lnTo>
                <a:lnTo>
                  <a:pt x="679739" y="126874"/>
                </a:lnTo>
                <a:lnTo>
                  <a:pt x="680714" y="153924"/>
                </a:lnTo>
                <a:lnTo>
                  <a:pt x="679739" y="180808"/>
                </a:lnTo>
                <a:lnTo>
                  <a:pt x="671980" y="227861"/>
                </a:lnTo>
                <a:lnTo>
                  <a:pt x="656578" y="265320"/>
                </a:lnTo>
                <a:lnTo>
                  <a:pt x="619627" y="297306"/>
                </a:lnTo>
                <a:lnTo>
                  <a:pt x="622802" y="307467"/>
                </a:lnTo>
                <a:lnTo>
                  <a:pt x="657076" y="289147"/>
                </a:lnTo>
                <a:lnTo>
                  <a:pt x="682492" y="254635"/>
                </a:lnTo>
                <a:lnTo>
                  <a:pt x="698319" y="208121"/>
                </a:lnTo>
                <a:lnTo>
                  <a:pt x="703568" y="153924"/>
                </a:lnTo>
                <a:lnTo>
                  <a:pt x="702320" y="126874"/>
                </a:lnTo>
                <a:lnTo>
                  <a:pt x="691733" y="75144"/>
                </a:lnTo>
                <a:lnTo>
                  <a:pt x="670897" y="33539"/>
                </a:lnTo>
                <a:lnTo>
                  <a:pt x="641040" y="7147"/>
                </a:lnTo>
                <a:lnTo>
                  <a:pt x="622802" y="0"/>
                </a:lnTo>
                <a:close/>
              </a:path>
              <a:path w="703580" h="307975">
                <a:moveTo>
                  <a:pt x="80766" y="0"/>
                </a:moveTo>
                <a:lnTo>
                  <a:pt x="46380" y="18319"/>
                </a:lnTo>
                <a:lnTo>
                  <a:pt x="20949" y="52831"/>
                </a:lnTo>
                <a:lnTo>
                  <a:pt x="5232" y="99409"/>
                </a:lnTo>
                <a:lnTo>
                  <a:pt x="0" y="153924"/>
                </a:lnTo>
                <a:lnTo>
                  <a:pt x="1250" y="180808"/>
                </a:lnTo>
                <a:lnTo>
                  <a:pt x="11781" y="232342"/>
                </a:lnTo>
                <a:lnTo>
                  <a:pt x="32545" y="273927"/>
                </a:lnTo>
                <a:lnTo>
                  <a:pt x="62454" y="300319"/>
                </a:lnTo>
                <a:lnTo>
                  <a:pt x="80766" y="307467"/>
                </a:lnTo>
                <a:lnTo>
                  <a:pt x="83814" y="297306"/>
                </a:lnTo>
                <a:lnTo>
                  <a:pt x="69744" y="289946"/>
                </a:lnTo>
                <a:lnTo>
                  <a:pt x="57461" y="279288"/>
                </a:lnTo>
                <a:lnTo>
                  <a:pt x="31587" y="227861"/>
                </a:lnTo>
                <a:lnTo>
                  <a:pt x="23828" y="180808"/>
                </a:lnTo>
                <a:lnTo>
                  <a:pt x="22854" y="153924"/>
                </a:lnTo>
                <a:lnTo>
                  <a:pt x="23828" y="126874"/>
                </a:lnTo>
                <a:lnTo>
                  <a:pt x="31587" y="79682"/>
                </a:lnTo>
                <a:lnTo>
                  <a:pt x="46988" y="42199"/>
                </a:lnTo>
                <a:lnTo>
                  <a:pt x="83814" y="10160"/>
                </a:lnTo>
                <a:lnTo>
                  <a:pt x="807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2170302" y="4645913"/>
            <a:ext cx="144780" cy="248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40">
                <a:latin typeface="Cambria Math"/>
                <a:cs typeface="Cambria Math"/>
              </a:rPr>
              <a:t>𝑑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00125" y="4517897"/>
            <a:ext cx="166116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55625" algn="l"/>
              </a:tabLst>
            </a:pPr>
            <a:r>
              <a:rPr dirty="0" sz="2000">
                <a:latin typeface="Cambria Math"/>
                <a:cs typeface="Cambria Math"/>
              </a:rPr>
              <a:t>𝜉</a:t>
            </a:r>
            <a:r>
              <a:rPr dirty="0" sz="2000" spc="434">
                <a:latin typeface="Cambria Math"/>
                <a:cs typeface="Cambria Math"/>
              </a:rPr>
              <a:t> </a:t>
            </a:r>
            <a:r>
              <a:rPr dirty="0" sz="2000" spc="-50">
                <a:latin typeface="Cambria Math"/>
                <a:cs typeface="Cambria Math"/>
              </a:rPr>
              <a:t>𝑡</a:t>
            </a:r>
            <a:r>
              <a:rPr dirty="0" sz="2000">
                <a:latin typeface="Cambria Math"/>
                <a:cs typeface="Cambria Math"/>
              </a:rPr>
              <a:t>	∼</a:t>
            </a:r>
            <a:r>
              <a:rPr dirty="0" sz="2000" spc="12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𝑁</a:t>
            </a:r>
            <a:r>
              <a:rPr dirty="0" sz="2000" spc="490">
                <a:latin typeface="Cambria Math"/>
                <a:cs typeface="Cambria Math"/>
              </a:rPr>
              <a:t> </a:t>
            </a:r>
            <a:r>
              <a:rPr dirty="0" sz="2000" spc="-10">
                <a:latin typeface="Cambria Math"/>
                <a:cs typeface="Cambria Math"/>
              </a:rPr>
              <a:t>1,</a:t>
            </a:r>
            <a:r>
              <a:rPr dirty="0" sz="2000" spc="-110">
                <a:latin typeface="Cambria Math"/>
                <a:cs typeface="Cambria Math"/>
              </a:rPr>
              <a:t> </a:t>
            </a:r>
            <a:r>
              <a:rPr dirty="0" sz="2000" spc="45">
                <a:latin typeface="Cambria Math"/>
                <a:cs typeface="Cambria Math"/>
              </a:rPr>
              <a:t>𝜎</a:t>
            </a:r>
            <a:r>
              <a:rPr dirty="0" baseline="30651" sz="2175" spc="67">
                <a:latin typeface="Cambria Math"/>
                <a:cs typeface="Cambria Math"/>
              </a:rPr>
              <a:t>2</a:t>
            </a:r>
            <a:endParaRPr baseline="30651" sz="2175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497963" y="4517897"/>
            <a:ext cx="43688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Times New Roman"/>
                <a:cs typeface="Times New Roman"/>
              </a:rPr>
              <a:t>–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случайный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шум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процесса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деградации;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2532760" y="4923154"/>
            <a:ext cx="847725" cy="236220"/>
          </a:xfrm>
          <a:custGeom>
            <a:avLst/>
            <a:gdLst/>
            <a:ahLst/>
            <a:cxnLst/>
            <a:rect l="l" t="t" r="r" b="b"/>
            <a:pathLst>
              <a:path w="847725" h="236220">
                <a:moveTo>
                  <a:pt x="772033" y="0"/>
                </a:moveTo>
                <a:lnTo>
                  <a:pt x="768730" y="9524"/>
                </a:lnTo>
                <a:lnTo>
                  <a:pt x="782351" y="15501"/>
                </a:lnTo>
                <a:lnTo>
                  <a:pt x="794067" y="23717"/>
                </a:lnTo>
                <a:lnTo>
                  <a:pt x="817931" y="61652"/>
                </a:lnTo>
                <a:lnTo>
                  <a:pt x="824860" y="96335"/>
                </a:lnTo>
                <a:lnTo>
                  <a:pt x="824892" y="96565"/>
                </a:lnTo>
                <a:lnTo>
                  <a:pt x="824874" y="137477"/>
                </a:lnTo>
                <a:lnTo>
                  <a:pt x="811784" y="188340"/>
                </a:lnTo>
                <a:lnTo>
                  <a:pt x="782566" y="220255"/>
                </a:lnTo>
                <a:lnTo>
                  <a:pt x="769112" y="226186"/>
                </a:lnTo>
                <a:lnTo>
                  <a:pt x="772033" y="235711"/>
                </a:lnTo>
                <a:lnTo>
                  <a:pt x="817127" y="208994"/>
                </a:lnTo>
                <a:lnTo>
                  <a:pt x="842375" y="159607"/>
                </a:lnTo>
                <a:lnTo>
                  <a:pt x="847216" y="117982"/>
                </a:lnTo>
                <a:lnTo>
                  <a:pt x="846015" y="96565"/>
                </a:lnTo>
                <a:lnTo>
                  <a:pt x="836287" y="57993"/>
                </a:lnTo>
                <a:lnTo>
                  <a:pt x="804148" y="15112"/>
                </a:lnTo>
                <a:lnTo>
                  <a:pt x="789156" y="6163"/>
                </a:lnTo>
                <a:lnTo>
                  <a:pt x="772033" y="0"/>
                </a:lnTo>
                <a:close/>
              </a:path>
              <a:path w="847725" h="236220">
                <a:moveTo>
                  <a:pt x="75183" y="0"/>
                </a:moveTo>
                <a:lnTo>
                  <a:pt x="30196" y="26824"/>
                </a:lnTo>
                <a:lnTo>
                  <a:pt x="4857" y="76342"/>
                </a:lnTo>
                <a:lnTo>
                  <a:pt x="71" y="116712"/>
                </a:lnTo>
                <a:lnTo>
                  <a:pt x="0" y="117982"/>
                </a:lnTo>
                <a:lnTo>
                  <a:pt x="1093" y="137477"/>
                </a:lnTo>
                <a:lnTo>
                  <a:pt x="10929" y="177919"/>
                </a:lnTo>
                <a:lnTo>
                  <a:pt x="43021" y="220662"/>
                </a:lnTo>
                <a:lnTo>
                  <a:pt x="75183" y="235711"/>
                </a:lnTo>
                <a:lnTo>
                  <a:pt x="78105" y="226186"/>
                </a:lnTo>
                <a:lnTo>
                  <a:pt x="64722" y="220255"/>
                </a:lnTo>
                <a:lnTo>
                  <a:pt x="53149" y="211978"/>
                </a:lnTo>
                <a:lnTo>
                  <a:pt x="29338" y="173291"/>
                </a:lnTo>
                <a:lnTo>
                  <a:pt x="21516" y="117982"/>
                </a:lnTo>
                <a:lnTo>
                  <a:pt x="21462" y="116712"/>
                </a:lnTo>
                <a:lnTo>
                  <a:pt x="22342" y="96565"/>
                </a:lnTo>
                <a:lnTo>
                  <a:pt x="35432" y="46862"/>
                </a:lnTo>
                <a:lnTo>
                  <a:pt x="64936" y="15501"/>
                </a:lnTo>
                <a:lnTo>
                  <a:pt x="78486" y="9524"/>
                </a:lnTo>
                <a:lnTo>
                  <a:pt x="751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2972180" y="4970221"/>
            <a:ext cx="323215" cy="2489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450" spc="40">
                <a:latin typeface="Cambria Math"/>
                <a:cs typeface="Cambria Math"/>
              </a:rPr>
              <a:t>𝑒𝑡𝑎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00125" y="4846777"/>
            <a:ext cx="246316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Cambria Math"/>
                <a:cs typeface="Cambria Math"/>
              </a:rPr>
              <a:t>𝜂</a:t>
            </a:r>
            <a:r>
              <a:rPr dirty="0" sz="2000" spc="14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∼</a:t>
            </a:r>
            <a:r>
              <a:rPr dirty="0" sz="2000" spc="10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𝐿𝑜𝑔𝑁𝑜𝑟𝑚𝑎𝑙</a:t>
            </a:r>
            <a:r>
              <a:rPr dirty="0" sz="2000" spc="430">
                <a:latin typeface="Cambria Math"/>
                <a:cs typeface="Cambria Math"/>
              </a:rPr>
              <a:t> </a:t>
            </a:r>
            <a:r>
              <a:rPr dirty="0" sz="2000" spc="-20">
                <a:latin typeface="Cambria Math"/>
                <a:cs typeface="Cambria Math"/>
              </a:rPr>
              <a:t>0,</a:t>
            </a:r>
            <a:r>
              <a:rPr dirty="0" sz="2000" spc="-100">
                <a:latin typeface="Cambria Math"/>
                <a:cs typeface="Cambria Math"/>
              </a:rPr>
              <a:t> </a:t>
            </a:r>
            <a:r>
              <a:rPr dirty="0" sz="2000" spc="50">
                <a:latin typeface="Cambria Math"/>
                <a:cs typeface="Cambria Math"/>
              </a:rPr>
              <a:t>𝜎</a:t>
            </a:r>
            <a:r>
              <a:rPr dirty="0" baseline="28735" sz="2175" spc="75">
                <a:latin typeface="Cambria Math"/>
                <a:cs typeface="Cambria Math"/>
              </a:rPr>
              <a:t>2</a:t>
            </a:r>
            <a:endParaRPr baseline="28735" sz="2175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496436" y="4846777"/>
            <a:ext cx="624649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Times New Roman"/>
                <a:cs typeface="Times New Roman"/>
              </a:rPr>
              <a:t>–</a:t>
            </a:r>
            <a:r>
              <a:rPr dirty="0" sz="2000" spc="2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систематический</a:t>
            </a:r>
            <a:r>
              <a:rPr dirty="0" sz="2000" spc="2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множитель</a:t>
            </a:r>
            <a:r>
              <a:rPr dirty="0" sz="2000" spc="2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деградации</a:t>
            </a:r>
            <a:r>
              <a:rPr dirty="0" sz="2000" spc="2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для</a:t>
            </a:r>
            <a:r>
              <a:rPr dirty="0" sz="2000" spc="30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каждого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900544" y="5532754"/>
            <a:ext cx="273050" cy="236220"/>
          </a:xfrm>
          <a:custGeom>
            <a:avLst/>
            <a:gdLst/>
            <a:ahLst/>
            <a:cxnLst/>
            <a:rect l="l" t="t" r="r" b="b"/>
            <a:pathLst>
              <a:path w="273050" h="236220">
                <a:moveTo>
                  <a:pt x="197548" y="0"/>
                </a:moveTo>
                <a:lnTo>
                  <a:pt x="194182" y="9524"/>
                </a:lnTo>
                <a:lnTo>
                  <a:pt x="207829" y="15501"/>
                </a:lnTo>
                <a:lnTo>
                  <a:pt x="219567" y="23717"/>
                </a:lnTo>
                <a:lnTo>
                  <a:pt x="243398" y="61652"/>
                </a:lnTo>
                <a:lnTo>
                  <a:pt x="250327" y="96335"/>
                </a:lnTo>
                <a:lnTo>
                  <a:pt x="250360" y="96565"/>
                </a:lnTo>
                <a:lnTo>
                  <a:pt x="250357" y="137477"/>
                </a:lnTo>
                <a:lnTo>
                  <a:pt x="237248" y="188340"/>
                </a:lnTo>
                <a:lnTo>
                  <a:pt x="207996" y="220255"/>
                </a:lnTo>
                <a:lnTo>
                  <a:pt x="194563" y="226186"/>
                </a:lnTo>
                <a:lnTo>
                  <a:pt x="197548" y="235711"/>
                </a:lnTo>
                <a:lnTo>
                  <a:pt x="242580" y="208994"/>
                </a:lnTo>
                <a:lnTo>
                  <a:pt x="267884" y="159607"/>
                </a:lnTo>
                <a:lnTo>
                  <a:pt x="272732" y="117982"/>
                </a:lnTo>
                <a:lnTo>
                  <a:pt x="271528" y="96565"/>
                </a:lnTo>
                <a:lnTo>
                  <a:pt x="271515" y="96335"/>
                </a:lnTo>
                <a:lnTo>
                  <a:pt x="261786" y="57993"/>
                </a:lnTo>
                <a:lnTo>
                  <a:pt x="229617" y="15112"/>
                </a:lnTo>
                <a:lnTo>
                  <a:pt x="214633" y="6163"/>
                </a:lnTo>
                <a:lnTo>
                  <a:pt x="197548" y="0"/>
                </a:lnTo>
                <a:close/>
              </a:path>
              <a:path w="273050" h="236220">
                <a:moveTo>
                  <a:pt x="75183" y="0"/>
                </a:moveTo>
                <a:lnTo>
                  <a:pt x="30221" y="26824"/>
                </a:lnTo>
                <a:lnTo>
                  <a:pt x="4859" y="76342"/>
                </a:lnTo>
                <a:lnTo>
                  <a:pt x="71" y="116712"/>
                </a:lnTo>
                <a:lnTo>
                  <a:pt x="0" y="117982"/>
                </a:lnTo>
                <a:lnTo>
                  <a:pt x="4846" y="159607"/>
                </a:lnTo>
                <a:lnTo>
                  <a:pt x="30139" y="208994"/>
                </a:lnTo>
                <a:lnTo>
                  <a:pt x="75183" y="235711"/>
                </a:lnTo>
                <a:lnTo>
                  <a:pt x="78168" y="226186"/>
                </a:lnTo>
                <a:lnTo>
                  <a:pt x="64733" y="220255"/>
                </a:lnTo>
                <a:lnTo>
                  <a:pt x="53138" y="211978"/>
                </a:lnTo>
                <a:lnTo>
                  <a:pt x="29361" y="173291"/>
                </a:lnTo>
                <a:lnTo>
                  <a:pt x="21554" y="117982"/>
                </a:lnTo>
                <a:lnTo>
                  <a:pt x="21501" y="116712"/>
                </a:lnTo>
                <a:lnTo>
                  <a:pt x="22374" y="96565"/>
                </a:lnTo>
                <a:lnTo>
                  <a:pt x="35471" y="46862"/>
                </a:lnTo>
                <a:lnTo>
                  <a:pt x="64942" y="15501"/>
                </a:lnTo>
                <a:lnTo>
                  <a:pt x="78536" y="9524"/>
                </a:lnTo>
                <a:lnTo>
                  <a:pt x="751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883780" y="5837554"/>
            <a:ext cx="273050" cy="236220"/>
          </a:xfrm>
          <a:custGeom>
            <a:avLst/>
            <a:gdLst/>
            <a:ahLst/>
            <a:cxnLst/>
            <a:rect l="l" t="t" r="r" b="b"/>
            <a:pathLst>
              <a:path w="273050" h="236220">
                <a:moveTo>
                  <a:pt x="197548" y="0"/>
                </a:moveTo>
                <a:lnTo>
                  <a:pt x="194183" y="9524"/>
                </a:lnTo>
                <a:lnTo>
                  <a:pt x="207829" y="15501"/>
                </a:lnTo>
                <a:lnTo>
                  <a:pt x="219567" y="23717"/>
                </a:lnTo>
                <a:lnTo>
                  <a:pt x="243398" y="61652"/>
                </a:lnTo>
                <a:lnTo>
                  <a:pt x="250327" y="96335"/>
                </a:lnTo>
                <a:lnTo>
                  <a:pt x="250360" y="96565"/>
                </a:lnTo>
                <a:lnTo>
                  <a:pt x="250357" y="137477"/>
                </a:lnTo>
                <a:lnTo>
                  <a:pt x="237248" y="188340"/>
                </a:lnTo>
                <a:lnTo>
                  <a:pt x="207996" y="220255"/>
                </a:lnTo>
                <a:lnTo>
                  <a:pt x="194564" y="226186"/>
                </a:lnTo>
                <a:lnTo>
                  <a:pt x="197548" y="235711"/>
                </a:lnTo>
                <a:lnTo>
                  <a:pt x="242580" y="208994"/>
                </a:lnTo>
                <a:lnTo>
                  <a:pt x="267884" y="159607"/>
                </a:lnTo>
                <a:lnTo>
                  <a:pt x="272732" y="117982"/>
                </a:lnTo>
                <a:lnTo>
                  <a:pt x="271528" y="96565"/>
                </a:lnTo>
                <a:lnTo>
                  <a:pt x="271515" y="96335"/>
                </a:lnTo>
                <a:lnTo>
                  <a:pt x="261786" y="57993"/>
                </a:lnTo>
                <a:lnTo>
                  <a:pt x="229617" y="15112"/>
                </a:lnTo>
                <a:lnTo>
                  <a:pt x="214633" y="6163"/>
                </a:lnTo>
                <a:lnTo>
                  <a:pt x="197548" y="0"/>
                </a:lnTo>
                <a:close/>
              </a:path>
              <a:path w="273050" h="236220">
                <a:moveTo>
                  <a:pt x="75184" y="0"/>
                </a:moveTo>
                <a:lnTo>
                  <a:pt x="30221" y="26824"/>
                </a:lnTo>
                <a:lnTo>
                  <a:pt x="4859" y="76342"/>
                </a:lnTo>
                <a:lnTo>
                  <a:pt x="71" y="116712"/>
                </a:lnTo>
                <a:lnTo>
                  <a:pt x="0" y="117982"/>
                </a:lnTo>
                <a:lnTo>
                  <a:pt x="4846" y="159607"/>
                </a:lnTo>
                <a:lnTo>
                  <a:pt x="30139" y="208994"/>
                </a:lnTo>
                <a:lnTo>
                  <a:pt x="75184" y="235711"/>
                </a:lnTo>
                <a:lnTo>
                  <a:pt x="78168" y="226186"/>
                </a:lnTo>
                <a:lnTo>
                  <a:pt x="64733" y="220255"/>
                </a:lnTo>
                <a:lnTo>
                  <a:pt x="53138" y="211978"/>
                </a:lnTo>
                <a:lnTo>
                  <a:pt x="29361" y="173291"/>
                </a:lnTo>
                <a:lnTo>
                  <a:pt x="21554" y="117982"/>
                </a:lnTo>
                <a:lnTo>
                  <a:pt x="21501" y="116712"/>
                </a:lnTo>
                <a:lnTo>
                  <a:pt x="22374" y="96565"/>
                </a:lnTo>
                <a:lnTo>
                  <a:pt x="35471" y="46862"/>
                </a:lnTo>
                <a:lnTo>
                  <a:pt x="64942" y="15501"/>
                </a:lnTo>
                <a:lnTo>
                  <a:pt x="78536" y="9524"/>
                </a:lnTo>
                <a:lnTo>
                  <a:pt x="751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327456" y="5152135"/>
            <a:ext cx="4076065" cy="940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latin typeface="Times New Roman"/>
                <a:cs typeface="Times New Roman"/>
              </a:rPr>
              <a:t>прогона;</a:t>
            </a:r>
            <a:endParaRPr sz="20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  <a:tabLst>
                <a:tab pos="931544" algn="l"/>
              </a:tabLst>
            </a:pPr>
            <a:r>
              <a:rPr dirty="0" sz="2000">
                <a:latin typeface="Cambria Math"/>
                <a:cs typeface="Cambria Math"/>
              </a:rPr>
              <a:t>𝑇</a:t>
            </a:r>
            <a:r>
              <a:rPr dirty="0" sz="2000" spc="425">
                <a:latin typeface="Cambria Math"/>
                <a:cs typeface="Cambria Math"/>
              </a:rPr>
              <a:t> </a:t>
            </a:r>
            <a:r>
              <a:rPr dirty="0" sz="2000" spc="-50">
                <a:latin typeface="Cambria Math"/>
                <a:cs typeface="Cambria Math"/>
              </a:rPr>
              <a:t>𝑡</a:t>
            </a:r>
            <a:r>
              <a:rPr dirty="0" sz="2000">
                <a:latin typeface="Cambria Math"/>
                <a:cs typeface="Cambria Math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–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температура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эксплуатации;</a:t>
            </a:r>
            <a:endParaRPr sz="20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  <a:tabLst>
                <a:tab pos="915035" algn="l"/>
              </a:tabLst>
            </a:pPr>
            <a:r>
              <a:rPr dirty="0" sz="2000">
                <a:latin typeface="Cambria Math"/>
                <a:cs typeface="Cambria Math"/>
              </a:rPr>
              <a:t>𝐿</a:t>
            </a:r>
            <a:r>
              <a:rPr dirty="0" sz="2000" spc="420">
                <a:latin typeface="Cambria Math"/>
                <a:cs typeface="Cambria Math"/>
              </a:rPr>
              <a:t> </a:t>
            </a:r>
            <a:r>
              <a:rPr dirty="0" sz="2000" spc="-50">
                <a:latin typeface="Cambria Math"/>
                <a:cs typeface="Cambria Math"/>
              </a:rPr>
              <a:t>𝑡</a:t>
            </a:r>
            <a:r>
              <a:rPr dirty="0" sz="2000">
                <a:latin typeface="Cambria Math"/>
                <a:cs typeface="Cambria Math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–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коэффициент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нагрузки.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91770">
              <a:lnSpc>
                <a:spcPts val="2380"/>
              </a:lnSpc>
            </a:pPr>
            <a:fld id="{81D60167-4931-47E6-BA6A-407CBD079E47}" type="slidenum">
              <a:rPr dirty="0" spc="-50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5665" y="6464046"/>
            <a:ext cx="4766945" cy="0"/>
          </a:xfrm>
          <a:custGeom>
            <a:avLst/>
            <a:gdLst/>
            <a:ahLst/>
            <a:cxnLst/>
            <a:rect l="l" t="t" r="r" b="b"/>
            <a:pathLst>
              <a:path w="4766945" h="0">
                <a:moveTo>
                  <a:pt x="0" y="0"/>
                </a:moveTo>
                <a:lnTo>
                  <a:pt x="4766691" y="0"/>
                </a:lnTo>
              </a:path>
            </a:pathLst>
          </a:custGeom>
          <a:ln w="7620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3148" rIns="0" bIns="0" rtlCol="0" vert="horz">
            <a:spAutoFit/>
          </a:bodyPr>
          <a:lstStyle/>
          <a:p>
            <a:pPr marL="3740785" marR="5080" indent="-372872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000000"/>
                </a:solidFill>
              </a:rPr>
              <a:t>Целевая</a:t>
            </a:r>
            <a:r>
              <a:rPr dirty="0" sz="3600" spc="-145">
                <a:solidFill>
                  <a:srgbClr val="000000"/>
                </a:solidFill>
              </a:rPr>
              <a:t> </a:t>
            </a:r>
            <a:r>
              <a:rPr dirty="0" sz="3600" spc="-10">
                <a:solidFill>
                  <a:srgbClr val="000000"/>
                </a:solidFill>
              </a:rPr>
              <a:t>функция</a:t>
            </a:r>
            <a:r>
              <a:rPr dirty="0" sz="3600" spc="-170">
                <a:solidFill>
                  <a:srgbClr val="000000"/>
                </a:solidFill>
              </a:rPr>
              <a:t> </a:t>
            </a:r>
            <a:r>
              <a:rPr dirty="0" sz="3600" spc="-10">
                <a:solidFill>
                  <a:srgbClr val="000000"/>
                </a:solidFill>
              </a:rPr>
              <a:t>минимизации</a:t>
            </a:r>
            <a:r>
              <a:rPr dirty="0" sz="3600" spc="-165">
                <a:solidFill>
                  <a:srgbClr val="000000"/>
                </a:solidFill>
              </a:rPr>
              <a:t> </a:t>
            </a:r>
            <a:r>
              <a:rPr dirty="0" sz="3600" spc="-10">
                <a:solidFill>
                  <a:srgbClr val="000000"/>
                </a:solidFill>
              </a:rPr>
              <a:t>удельных затрат</a:t>
            </a:r>
            <a:endParaRPr sz="3600"/>
          </a:p>
        </p:txBody>
      </p:sp>
      <p:sp>
        <p:nvSpPr>
          <p:cNvPr id="4" name="object 4"/>
          <p:cNvSpPr/>
          <p:nvPr/>
        </p:nvSpPr>
        <p:spPr>
          <a:xfrm>
            <a:off x="1810257" y="2666745"/>
            <a:ext cx="387350" cy="282575"/>
          </a:xfrm>
          <a:custGeom>
            <a:avLst/>
            <a:gdLst/>
            <a:ahLst/>
            <a:cxnLst/>
            <a:rect l="l" t="t" r="r" b="b"/>
            <a:pathLst>
              <a:path w="387350" h="282575">
                <a:moveTo>
                  <a:pt x="296799" y="0"/>
                </a:moveTo>
                <a:lnTo>
                  <a:pt x="292735" y="11429"/>
                </a:lnTo>
                <a:lnTo>
                  <a:pt x="309098" y="18504"/>
                </a:lnTo>
                <a:lnTo>
                  <a:pt x="323151" y="28305"/>
                </a:lnTo>
                <a:lnTo>
                  <a:pt x="351684" y="73852"/>
                </a:lnTo>
                <a:lnTo>
                  <a:pt x="359974" y="115339"/>
                </a:lnTo>
                <a:lnTo>
                  <a:pt x="361061" y="139700"/>
                </a:lnTo>
                <a:lnTo>
                  <a:pt x="360013" y="164580"/>
                </a:lnTo>
                <a:lnTo>
                  <a:pt x="351631" y="207529"/>
                </a:lnTo>
                <a:lnTo>
                  <a:pt x="323151" y="253777"/>
                </a:lnTo>
                <a:lnTo>
                  <a:pt x="293243" y="270763"/>
                </a:lnTo>
                <a:lnTo>
                  <a:pt x="296799" y="282320"/>
                </a:lnTo>
                <a:lnTo>
                  <a:pt x="335295" y="264191"/>
                </a:lnTo>
                <a:lnTo>
                  <a:pt x="363600" y="232917"/>
                </a:lnTo>
                <a:lnTo>
                  <a:pt x="381031" y="191071"/>
                </a:lnTo>
                <a:lnTo>
                  <a:pt x="386842" y="141224"/>
                </a:lnTo>
                <a:lnTo>
                  <a:pt x="385405" y="115623"/>
                </a:lnTo>
                <a:lnTo>
                  <a:pt x="373768" y="69429"/>
                </a:lnTo>
                <a:lnTo>
                  <a:pt x="350645" y="32093"/>
                </a:lnTo>
                <a:lnTo>
                  <a:pt x="317255" y="7379"/>
                </a:lnTo>
                <a:lnTo>
                  <a:pt x="296799" y="0"/>
                </a:lnTo>
                <a:close/>
              </a:path>
              <a:path w="387350" h="282575">
                <a:moveTo>
                  <a:pt x="90043" y="0"/>
                </a:moveTo>
                <a:lnTo>
                  <a:pt x="51593" y="18081"/>
                </a:lnTo>
                <a:lnTo>
                  <a:pt x="23241" y="49402"/>
                </a:lnTo>
                <a:lnTo>
                  <a:pt x="5810" y="91408"/>
                </a:lnTo>
                <a:lnTo>
                  <a:pt x="85" y="139700"/>
                </a:lnTo>
                <a:lnTo>
                  <a:pt x="0" y="141224"/>
                </a:lnTo>
                <a:lnTo>
                  <a:pt x="5794" y="191071"/>
                </a:lnTo>
                <a:lnTo>
                  <a:pt x="23114" y="232917"/>
                </a:lnTo>
                <a:lnTo>
                  <a:pt x="51482" y="264191"/>
                </a:lnTo>
                <a:lnTo>
                  <a:pt x="90043" y="282320"/>
                </a:lnTo>
                <a:lnTo>
                  <a:pt x="93599" y="270763"/>
                </a:lnTo>
                <a:lnTo>
                  <a:pt x="77475" y="263663"/>
                </a:lnTo>
                <a:lnTo>
                  <a:pt x="63579" y="253777"/>
                </a:lnTo>
                <a:lnTo>
                  <a:pt x="35083" y="207529"/>
                </a:lnTo>
                <a:lnTo>
                  <a:pt x="26701" y="164580"/>
                </a:lnTo>
                <a:lnTo>
                  <a:pt x="25718" y="141224"/>
                </a:lnTo>
                <a:lnTo>
                  <a:pt x="25654" y="139700"/>
                </a:lnTo>
                <a:lnTo>
                  <a:pt x="29845" y="93678"/>
                </a:lnTo>
                <a:lnTo>
                  <a:pt x="42418" y="56133"/>
                </a:lnTo>
                <a:lnTo>
                  <a:pt x="77690" y="18504"/>
                </a:lnTo>
                <a:lnTo>
                  <a:pt x="93980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620136" y="2797936"/>
            <a:ext cx="585470" cy="20320"/>
          </a:xfrm>
          <a:custGeom>
            <a:avLst/>
            <a:gdLst/>
            <a:ahLst/>
            <a:cxnLst/>
            <a:rect l="l" t="t" r="r" b="b"/>
            <a:pathLst>
              <a:path w="585469" h="20319">
                <a:moveTo>
                  <a:pt x="585215" y="0"/>
                </a:moveTo>
                <a:lnTo>
                  <a:pt x="0" y="0"/>
                </a:lnTo>
                <a:lnTo>
                  <a:pt x="0" y="19812"/>
                </a:lnTo>
                <a:lnTo>
                  <a:pt x="585215" y="19812"/>
                </a:lnTo>
                <a:lnTo>
                  <a:pt x="5852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836291" y="2480817"/>
            <a:ext cx="154305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50">
                <a:latin typeface="Cambria Math"/>
                <a:cs typeface="Cambria Math"/>
              </a:rPr>
              <a:t>1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82291" y="2860675"/>
            <a:ext cx="6540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31746" sz="2625" spc="-30">
                <a:latin typeface="Cambria Math"/>
                <a:cs typeface="Cambria Math"/>
              </a:rPr>
              <a:t>𝑇</a:t>
            </a:r>
            <a:r>
              <a:rPr dirty="0" sz="2400" spc="-20">
                <a:latin typeface="Times New Roman"/>
                <a:cs typeface="Times New Roman"/>
              </a:rPr>
              <a:t>sim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055229" y="2557271"/>
            <a:ext cx="71120" cy="499109"/>
          </a:xfrm>
          <a:custGeom>
            <a:avLst/>
            <a:gdLst/>
            <a:ahLst/>
            <a:cxnLst/>
            <a:rect l="l" t="t" r="r" b="b"/>
            <a:pathLst>
              <a:path w="71120" h="499110">
                <a:moveTo>
                  <a:pt x="70866" y="0"/>
                </a:moveTo>
                <a:lnTo>
                  <a:pt x="0" y="0"/>
                </a:lnTo>
                <a:lnTo>
                  <a:pt x="0" y="12700"/>
                </a:lnTo>
                <a:lnTo>
                  <a:pt x="43307" y="12700"/>
                </a:lnTo>
                <a:lnTo>
                  <a:pt x="43307" y="486410"/>
                </a:lnTo>
                <a:lnTo>
                  <a:pt x="0" y="486410"/>
                </a:lnTo>
                <a:lnTo>
                  <a:pt x="0" y="499110"/>
                </a:lnTo>
                <a:lnTo>
                  <a:pt x="70866" y="499110"/>
                </a:lnTo>
                <a:lnTo>
                  <a:pt x="70866" y="486410"/>
                </a:lnTo>
                <a:lnTo>
                  <a:pt x="70866" y="12700"/>
                </a:lnTo>
                <a:lnTo>
                  <a:pt x="708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289427" y="2557271"/>
            <a:ext cx="71120" cy="499109"/>
          </a:xfrm>
          <a:custGeom>
            <a:avLst/>
            <a:gdLst/>
            <a:ahLst/>
            <a:cxnLst/>
            <a:rect l="l" t="t" r="r" b="b"/>
            <a:pathLst>
              <a:path w="71120" h="499110">
                <a:moveTo>
                  <a:pt x="70866" y="0"/>
                </a:moveTo>
                <a:lnTo>
                  <a:pt x="0" y="0"/>
                </a:lnTo>
                <a:lnTo>
                  <a:pt x="0" y="12700"/>
                </a:lnTo>
                <a:lnTo>
                  <a:pt x="0" y="486410"/>
                </a:lnTo>
                <a:lnTo>
                  <a:pt x="0" y="499110"/>
                </a:lnTo>
                <a:lnTo>
                  <a:pt x="70866" y="499110"/>
                </a:lnTo>
                <a:lnTo>
                  <a:pt x="70866" y="486410"/>
                </a:lnTo>
                <a:lnTo>
                  <a:pt x="27559" y="486410"/>
                </a:lnTo>
                <a:lnTo>
                  <a:pt x="27559" y="12700"/>
                </a:lnTo>
                <a:lnTo>
                  <a:pt x="70866" y="12700"/>
                </a:lnTo>
                <a:lnTo>
                  <a:pt x="708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253229" y="2666745"/>
            <a:ext cx="387350" cy="282575"/>
          </a:xfrm>
          <a:custGeom>
            <a:avLst/>
            <a:gdLst/>
            <a:ahLst/>
            <a:cxnLst/>
            <a:rect l="l" t="t" r="r" b="b"/>
            <a:pathLst>
              <a:path w="387350" h="282575">
                <a:moveTo>
                  <a:pt x="296799" y="0"/>
                </a:moveTo>
                <a:lnTo>
                  <a:pt x="292735" y="11429"/>
                </a:lnTo>
                <a:lnTo>
                  <a:pt x="309098" y="18504"/>
                </a:lnTo>
                <a:lnTo>
                  <a:pt x="323151" y="28305"/>
                </a:lnTo>
                <a:lnTo>
                  <a:pt x="351684" y="73852"/>
                </a:lnTo>
                <a:lnTo>
                  <a:pt x="359974" y="115339"/>
                </a:lnTo>
                <a:lnTo>
                  <a:pt x="361061" y="139700"/>
                </a:lnTo>
                <a:lnTo>
                  <a:pt x="360013" y="164580"/>
                </a:lnTo>
                <a:lnTo>
                  <a:pt x="351631" y="207529"/>
                </a:lnTo>
                <a:lnTo>
                  <a:pt x="323151" y="253777"/>
                </a:lnTo>
                <a:lnTo>
                  <a:pt x="293243" y="270763"/>
                </a:lnTo>
                <a:lnTo>
                  <a:pt x="296799" y="282320"/>
                </a:lnTo>
                <a:lnTo>
                  <a:pt x="335295" y="264191"/>
                </a:lnTo>
                <a:lnTo>
                  <a:pt x="363600" y="232917"/>
                </a:lnTo>
                <a:lnTo>
                  <a:pt x="381031" y="191071"/>
                </a:lnTo>
                <a:lnTo>
                  <a:pt x="386842" y="141224"/>
                </a:lnTo>
                <a:lnTo>
                  <a:pt x="385405" y="115623"/>
                </a:lnTo>
                <a:lnTo>
                  <a:pt x="385389" y="115339"/>
                </a:lnTo>
                <a:lnTo>
                  <a:pt x="373768" y="69429"/>
                </a:lnTo>
                <a:lnTo>
                  <a:pt x="350645" y="32093"/>
                </a:lnTo>
                <a:lnTo>
                  <a:pt x="317255" y="7379"/>
                </a:lnTo>
                <a:lnTo>
                  <a:pt x="296799" y="0"/>
                </a:lnTo>
                <a:close/>
              </a:path>
              <a:path w="387350" h="282575">
                <a:moveTo>
                  <a:pt x="90043" y="0"/>
                </a:moveTo>
                <a:lnTo>
                  <a:pt x="51593" y="18081"/>
                </a:lnTo>
                <a:lnTo>
                  <a:pt x="23241" y="49402"/>
                </a:lnTo>
                <a:lnTo>
                  <a:pt x="5810" y="91408"/>
                </a:lnTo>
                <a:lnTo>
                  <a:pt x="85" y="139700"/>
                </a:lnTo>
                <a:lnTo>
                  <a:pt x="0" y="141224"/>
                </a:lnTo>
                <a:lnTo>
                  <a:pt x="1450" y="167159"/>
                </a:lnTo>
                <a:lnTo>
                  <a:pt x="13019" y="212982"/>
                </a:lnTo>
                <a:lnTo>
                  <a:pt x="36018" y="250209"/>
                </a:lnTo>
                <a:lnTo>
                  <a:pt x="69494" y="274887"/>
                </a:lnTo>
                <a:lnTo>
                  <a:pt x="90043" y="282320"/>
                </a:lnTo>
                <a:lnTo>
                  <a:pt x="93599" y="270763"/>
                </a:lnTo>
                <a:lnTo>
                  <a:pt x="77475" y="263663"/>
                </a:lnTo>
                <a:lnTo>
                  <a:pt x="63579" y="253777"/>
                </a:lnTo>
                <a:lnTo>
                  <a:pt x="35083" y="207529"/>
                </a:lnTo>
                <a:lnTo>
                  <a:pt x="26701" y="164580"/>
                </a:lnTo>
                <a:lnTo>
                  <a:pt x="25718" y="141224"/>
                </a:lnTo>
                <a:lnTo>
                  <a:pt x="25654" y="139700"/>
                </a:lnTo>
                <a:lnTo>
                  <a:pt x="29845" y="93678"/>
                </a:lnTo>
                <a:lnTo>
                  <a:pt x="42418" y="56133"/>
                </a:lnTo>
                <a:lnTo>
                  <a:pt x="77690" y="18504"/>
                </a:lnTo>
                <a:lnTo>
                  <a:pt x="93980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162169" y="2721305"/>
            <a:ext cx="159385" cy="2933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50" spc="35">
                <a:latin typeface="Cambria Math"/>
                <a:cs typeface="Cambria Math"/>
              </a:rPr>
              <a:t>𝑓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23694" y="2576525"/>
            <a:ext cx="415671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683895" algn="l"/>
                <a:tab pos="1743075" algn="l"/>
                <a:tab pos="2729230" algn="l"/>
                <a:tab pos="3110230" algn="l"/>
                <a:tab pos="3771900" algn="l"/>
              </a:tabLst>
            </a:pPr>
            <a:r>
              <a:rPr dirty="0" sz="2400">
                <a:latin typeface="Cambria Math"/>
                <a:cs typeface="Cambria Math"/>
              </a:rPr>
              <a:t>𝐽</a:t>
            </a:r>
            <a:r>
              <a:rPr dirty="0" sz="2400" spc="50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𝜋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50">
                <a:latin typeface="Cambria Math"/>
                <a:cs typeface="Cambria Math"/>
              </a:rPr>
              <a:t>=</a:t>
            </a:r>
            <a:r>
              <a:rPr dirty="0" sz="2400">
                <a:latin typeface="Cambria Math"/>
                <a:cs typeface="Cambria Math"/>
              </a:rPr>
              <a:t>	𝐶</a:t>
            </a:r>
            <a:r>
              <a:rPr dirty="0" baseline="-15873" sz="2625">
                <a:latin typeface="Cambria Math"/>
                <a:cs typeface="Cambria Math"/>
              </a:rPr>
              <a:t>𝑟</a:t>
            </a:r>
            <a:r>
              <a:rPr dirty="0" baseline="-15873" sz="2625" spc="397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⋅</a:t>
            </a:r>
            <a:r>
              <a:rPr dirty="0" sz="2400" spc="-30">
                <a:latin typeface="Cambria Math"/>
                <a:cs typeface="Cambria Math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𝑁</a:t>
            </a:r>
            <a:r>
              <a:rPr dirty="0" baseline="-15873" sz="2625" spc="-37">
                <a:latin typeface="Cambria Math"/>
                <a:cs typeface="Cambria Math"/>
              </a:rPr>
              <a:t>𝑟</a:t>
            </a:r>
            <a:r>
              <a:rPr dirty="0" baseline="-15873" sz="2625">
                <a:latin typeface="Cambria Math"/>
                <a:cs typeface="Cambria Math"/>
              </a:rPr>
              <a:t>	</a:t>
            </a:r>
            <a:r>
              <a:rPr dirty="0" sz="2400" spc="-50">
                <a:latin typeface="Cambria Math"/>
                <a:cs typeface="Cambria Math"/>
              </a:rPr>
              <a:t>𝜋</a:t>
            </a:r>
            <a:r>
              <a:rPr dirty="0" sz="2400">
                <a:latin typeface="Cambria Math"/>
                <a:cs typeface="Cambria Math"/>
              </a:rPr>
              <a:t>	+</a:t>
            </a:r>
            <a:r>
              <a:rPr dirty="0" sz="2400" spc="-10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𝐶</a:t>
            </a:r>
            <a:r>
              <a:rPr dirty="0" sz="2400">
                <a:latin typeface="Cambria Math"/>
                <a:cs typeface="Cambria Math"/>
              </a:rPr>
              <a:t>	⋅</a:t>
            </a:r>
            <a:r>
              <a:rPr dirty="0" sz="2400" spc="-5">
                <a:latin typeface="Cambria Math"/>
                <a:cs typeface="Cambria Math"/>
              </a:rPr>
              <a:t> </a:t>
            </a:r>
            <a:r>
              <a:rPr dirty="0" baseline="-2314" sz="3600" spc="-1589">
                <a:latin typeface="Cambria Math"/>
                <a:cs typeface="Cambria Math"/>
              </a:rPr>
              <a:t>׬</a:t>
            </a:r>
            <a:endParaRPr baseline="-2314" sz="3600">
              <a:latin typeface="Cambria Math"/>
              <a:cs typeface="Cambria Math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804027" y="2549525"/>
            <a:ext cx="1211580" cy="508634"/>
            <a:chOff x="5804027" y="2549525"/>
            <a:chExt cx="1211580" cy="508634"/>
          </a:xfrm>
        </p:grpSpPr>
        <p:sp>
          <p:nvSpPr>
            <p:cNvPr id="14" name="object 14"/>
            <p:cNvSpPr/>
            <p:nvPr/>
          </p:nvSpPr>
          <p:spPr>
            <a:xfrm>
              <a:off x="5804027" y="2555366"/>
              <a:ext cx="1211580" cy="502920"/>
            </a:xfrm>
            <a:custGeom>
              <a:avLst/>
              <a:gdLst/>
              <a:ahLst/>
              <a:cxnLst/>
              <a:rect l="l" t="t" r="r" b="b"/>
              <a:pathLst>
                <a:path w="1211579" h="502919">
                  <a:moveTo>
                    <a:pt x="113411" y="11938"/>
                  </a:moveTo>
                  <a:lnTo>
                    <a:pt x="63842" y="35902"/>
                  </a:lnTo>
                  <a:lnTo>
                    <a:pt x="29337" y="92837"/>
                  </a:lnTo>
                  <a:lnTo>
                    <a:pt x="7327" y="166268"/>
                  </a:lnTo>
                  <a:lnTo>
                    <a:pt x="1828" y="207302"/>
                  </a:lnTo>
                  <a:lnTo>
                    <a:pt x="0" y="251206"/>
                  </a:lnTo>
                  <a:lnTo>
                    <a:pt x="1765" y="293585"/>
                  </a:lnTo>
                  <a:lnTo>
                    <a:pt x="7327" y="335915"/>
                  </a:lnTo>
                  <a:lnTo>
                    <a:pt x="16497" y="374116"/>
                  </a:lnTo>
                  <a:lnTo>
                    <a:pt x="45339" y="440969"/>
                  </a:lnTo>
                  <a:lnTo>
                    <a:pt x="84874" y="487553"/>
                  </a:lnTo>
                  <a:lnTo>
                    <a:pt x="108458" y="502793"/>
                  </a:lnTo>
                  <a:lnTo>
                    <a:pt x="113411" y="490855"/>
                  </a:lnTo>
                  <a:lnTo>
                    <a:pt x="94500" y="475576"/>
                  </a:lnTo>
                  <a:lnTo>
                    <a:pt x="77787" y="455637"/>
                  </a:lnTo>
                  <a:lnTo>
                    <a:pt x="50927" y="401828"/>
                  </a:lnTo>
                  <a:lnTo>
                    <a:pt x="34061" y="332701"/>
                  </a:lnTo>
                  <a:lnTo>
                    <a:pt x="29845" y="293585"/>
                  </a:lnTo>
                  <a:lnTo>
                    <a:pt x="28448" y="251460"/>
                  </a:lnTo>
                  <a:lnTo>
                    <a:pt x="29845" y="208724"/>
                  </a:lnTo>
                  <a:lnTo>
                    <a:pt x="34099" y="169265"/>
                  </a:lnTo>
                  <a:lnTo>
                    <a:pt x="51181" y="100203"/>
                  </a:lnTo>
                  <a:lnTo>
                    <a:pt x="78054" y="46926"/>
                  </a:lnTo>
                  <a:lnTo>
                    <a:pt x="94665" y="27165"/>
                  </a:lnTo>
                  <a:lnTo>
                    <a:pt x="113411" y="11938"/>
                  </a:lnTo>
                  <a:close/>
                </a:path>
                <a:path w="1211579" h="502919">
                  <a:moveTo>
                    <a:pt x="1087882" y="242570"/>
                  </a:moveTo>
                  <a:lnTo>
                    <a:pt x="655066" y="242570"/>
                  </a:lnTo>
                  <a:lnTo>
                    <a:pt x="655066" y="262382"/>
                  </a:lnTo>
                  <a:lnTo>
                    <a:pt x="1087882" y="262382"/>
                  </a:lnTo>
                  <a:lnTo>
                    <a:pt x="1087882" y="242570"/>
                  </a:lnTo>
                  <a:close/>
                </a:path>
                <a:path w="1211579" h="502919">
                  <a:moveTo>
                    <a:pt x="1211072" y="251206"/>
                  </a:moveTo>
                  <a:lnTo>
                    <a:pt x="1209294" y="208724"/>
                  </a:lnTo>
                  <a:lnTo>
                    <a:pt x="1203731" y="166268"/>
                  </a:lnTo>
                  <a:lnTo>
                    <a:pt x="1194562" y="128104"/>
                  </a:lnTo>
                  <a:lnTo>
                    <a:pt x="1165707" y="61747"/>
                  </a:lnTo>
                  <a:lnTo>
                    <a:pt x="1126083" y="15316"/>
                  </a:lnTo>
                  <a:lnTo>
                    <a:pt x="1102487" y="0"/>
                  </a:lnTo>
                  <a:lnTo>
                    <a:pt x="1097661" y="11938"/>
                  </a:lnTo>
                  <a:lnTo>
                    <a:pt x="1116393" y="27165"/>
                  </a:lnTo>
                  <a:lnTo>
                    <a:pt x="1133030" y="46926"/>
                  </a:lnTo>
                  <a:lnTo>
                    <a:pt x="1160018" y="100203"/>
                  </a:lnTo>
                  <a:lnTo>
                    <a:pt x="1176985" y="169265"/>
                  </a:lnTo>
                  <a:lnTo>
                    <a:pt x="1181214" y="208724"/>
                  </a:lnTo>
                  <a:lnTo>
                    <a:pt x="1182611" y="251206"/>
                  </a:lnTo>
                  <a:lnTo>
                    <a:pt x="1182624" y="251460"/>
                  </a:lnTo>
                  <a:lnTo>
                    <a:pt x="1181214" y="293585"/>
                  </a:lnTo>
                  <a:lnTo>
                    <a:pt x="1176997" y="332701"/>
                  </a:lnTo>
                  <a:lnTo>
                    <a:pt x="1160145" y="401828"/>
                  </a:lnTo>
                  <a:lnTo>
                    <a:pt x="1133182" y="455637"/>
                  </a:lnTo>
                  <a:lnTo>
                    <a:pt x="1097661" y="490855"/>
                  </a:lnTo>
                  <a:lnTo>
                    <a:pt x="1102487" y="502793"/>
                  </a:lnTo>
                  <a:lnTo>
                    <a:pt x="1147152" y="466953"/>
                  </a:lnTo>
                  <a:lnTo>
                    <a:pt x="1181735" y="409575"/>
                  </a:lnTo>
                  <a:lnTo>
                    <a:pt x="1203731" y="335915"/>
                  </a:lnTo>
                  <a:lnTo>
                    <a:pt x="1209230" y="294957"/>
                  </a:lnTo>
                  <a:lnTo>
                    <a:pt x="1211059" y="251460"/>
                  </a:lnTo>
                  <a:lnTo>
                    <a:pt x="1211072" y="2512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21907" y="2549525"/>
              <a:ext cx="249809" cy="206121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5890005" y="2398216"/>
            <a:ext cx="94234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32407" sz="3600">
                <a:latin typeface="Cambria Math"/>
                <a:cs typeface="Cambria Math"/>
              </a:rPr>
              <a:t>1 − </a:t>
            </a:r>
            <a:r>
              <a:rPr dirty="0" sz="1750" spc="105">
                <a:latin typeface="Cambria Math"/>
                <a:cs typeface="Cambria Math"/>
              </a:rPr>
              <a:t>ℎ</a:t>
            </a:r>
            <a:r>
              <a:rPr dirty="0" sz="1750" spc="385">
                <a:latin typeface="Cambria Math"/>
                <a:cs typeface="Cambria Math"/>
              </a:rPr>
              <a:t> </a:t>
            </a:r>
            <a:r>
              <a:rPr dirty="0" sz="1750" spc="30">
                <a:latin typeface="Cambria Math"/>
                <a:cs typeface="Cambria Math"/>
              </a:rPr>
              <a:t>𝑡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08750" y="2812744"/>
            <a:ext cx="323850" cy="2933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750" spc="55">
                <a:latin typeface="Cambria Math"/>
                <a:cs typeface="Cambria Math"/>
              </a:rPr>
              <a:t>ℎ</a:t>
            </a:r>
            <a:r>
              <a:rPr dirty="0" baseline="-13409" sz="2175" spc="82">
                <a:latin typeface="Cambria Math"/>
                <a:cs typeface="Cambria Math"/>
              </a:rPr>
              <a:t>0</a:t>
            </a:r>
            <a:endParaRPr baseline="-13409" sz="2175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10576" y="2721305"/>
            <a:ext cx="133350" cy="2933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50" spc="-50">
                <a:latin typeface="Cambria Math"/>
                <a:cs typeface="Cambria Math"/>
              </a:rPr>
              <a:t>𝑠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079742" y="2576525"/>
            <a:ext cx="117030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80770" algn="l"/>
              </a:tabLst>
            </a:pPr>
            <a:r>
              <a:rPr dirty="0" sz="2400">
                <a:latin typeface="Cambria Math"/>
                <a:cs typeface="Cambria Math"/>
              </a:rPr>
              <a:t>𝑑𝑡</a:t>
            </a:r>
            <a:r>
              <a:rPr dirty="0" sz="2400" spc="5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+</a:t>
            </a:r>
            <a:r>
              <a:rPr dirty="0" sz="2400" spc="-10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𝐶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50">
                <a:latin typeface="Times New Roman"/>
                <a:cs typeface="Times New Roman"/>
              </a:rPr>
              <a:t>,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320276" y="2576525"/>
            <a:ext cx="3816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Times New Roman"/>
                <a:cs typeface="Times New Roman"/>
              </a:rPr>
              <a:t>(2)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99248" y="3846702"/>
            <a:ext cx="323215" cy="236220"/>
          </a:xfrm>
          <a:custGeom>
            <a:avLst/>
            <a:gdLst/>
            <a:ahLst/>
            <a:cxnLst/>
            <a:rect l="l" t="t" r="r" b="b"/>
            <a:pathLst>
              <a:path w="323215" h="236220">
                <a:moveTo>
                  <a:pt x="247789" y="0"/>
                </a:moveTo>
                <a:lnTo>
                  <a:pt x="244487" y="9525"/>
                </a:lnTo>
                <a:lnTo>
                  <a:pt x="258108" y="15501"/>
                </a:lnTo>
                <a:lnTo>
                  <a:pt x="269824" y="23717"/>
                </a:lnTo>
                <a:lnTo>
                  <a:pt x="293688" y="61652"/>
                </a:lnTo>
                <a:lnTo>
                  <a:pt x="301510" y="116712"/>
                </a:lnTo>
                <a:lnTo>
                  <a:pt x="300631" y="137477"/>
                </a:lnTo>
                <a:lnTo>
                  <a:pt x="287540" y="188341"/>
                </a:lnTo>
                <a:lnTo>
                  <a:pt x="258322" y="220255"/>
                </a:lnTo>
                <a:lnTo>
                  <a:pt x="244868" y="226187"/>
                </a:lnTo>
                <a:lnTo>
                  <a:pt x="247789" y="235712"/>
                </a:lnTo>
                <a:lnTo>
                  <a:pt x="292884" y="208994"/>
                </a:lnTo>
                <a:lnTo>
                  <a:pt x="318131" y="159607"/>
                </a:lnTo>
                <a:lnTo>
                  <a:pt x="322973" y="117983"/>
                </a:lnTo>
                <a:lnTo>
                  <a:pt x="321772" y="96565"/>
                </a:lnTo>
                <a:lnTo>
                  <a:pt x="321759" y="96335"/>
                </a:lnTo>
                <a:lnTo>
                  <a:pt x="312043" y="57993"/>
                </a:lnTo>
                <a:lnTo>
                  <a:pt x="279904" y="15113"/>
                </a:lnTo>
                <a:lnTo>
                  <a:pt x="264912" y="6163"/>
                </a:lnTo>
                <a:lnTo>
                  <a:pt x="247789" y="0"/>
                </a:lnTo>
                <a:close/>
              </a:path>
              <a:path w="323215" h="236220">
                <a:moveTo>
                  <a:pt x="75196" y="0"/>
                </a:moveTo>
                <a:lnTo>
                  <a:pt x="30221" y="26824"/>
                </a:lnTo>
                <a:lnTo>
                  <a:pt x="4859" y="76342"/>
                </a:lnTo>
                <a:lnTo>
                  <a:pt x="71" y="116712"/>
                </a:lnTo>
                <a:lnTo>
                  <a:pt x="0" y="117983"/>
                </a:lnTo>
                <a:lnTo>
                  <a:pt x="1091" y="137477"/>
                </a:lnTo>
                <a:lnTo>
                  <a:pt x="1211" y="139628"/>
                </a:lnTo>
                <a:lnTo>
                  <a:pt x="4846" y="159607"/>
                </a:lnTo>
                <a:lnTo>
                  <a:pt x="30139" y="208994"/>
                </a:lnTo>
                <a:lnTo>
                  <a:pt x="75196" y="235712"/>
                </a:lnTo>
                <a:lnTo>
                  <a:pt x="78117" y="226187"/>
                </a:lnTo>
                <a:lnTo>
                  <a:pt x="64712" y="220255"/>
                </a:lnTo>
                <a:lnTo>
                  <a:pt x="53132" y="211978"/>
                </a:lnTo>
                <a:lnTo>
                  <a:pt x="29361" y="173291"/>
                </a:lnTo>
                <a:lnTo>
                  <a:pt x="21554" y="117983"/>
                </a:lnTo>
                <a:lnTo>
                  <a:pt x="21501" y="116712"/>
                </a:lnTo>
                <a:lnTo>
                  <a:pt x="22374" y="96565"/>
                </a:lnTo>
                <a:lnTo>
                  <a:pt x="35471" y="46862"/>
                </a:lnTo>
                <a:lnTo>
                  <a:pt x="64926" y="15501"/>
                </a:lnTo>
                <a:lnTo>
                  <a:pt x="78498" y="9525"/>
                </a:lnTo>
                <a:lnTo>
                  <a:pt x="751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289356" y="3464178"/>
            <a:ext cx="6929120" cy="1271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551815" algn="l"/>
              </a:tabLst>
            </a:pPr>
            <a:r>
              <a:rPr dirty="0" sz="2000" spc="-25">
                <a:latin typeface="Times New Roman"/>
                <a:cs typeface="Times New Roman"/>
              </a:rPr>
              <a:t>где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>
                <a:latin typeface="Cambria Math"/>
                <a:cs typeface="Cambria Math"/>
              </a:rPr>
              <a:t>𝐶</a:t>
            </a:r>
            <a:r>
              <a:rPr dirty="0" baseline="-15325" sz="2175">
                <a:latin typeface="Cambria Math"/>
                <a:cs typeface="Cambria Math"/>
              </a:rPr>
              <a:t>𝑟</a:t>
            </a:r>
            <a:r>
              <a:rPr dirty="0" baseline="-15325" sz="2175" spc="307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–</a:t>
            </a:r>
            <a:r>
              <a:rPr dirty="0" sz="2000" spc="-3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стоимость</a:t>
            </a:r>
            <a:r>
              <a:rPr dirty="0" sz="2000" spc="-4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одного</a:t>
            </a:r>
            <a:r>
              <a:rPr dirty="0" sz="2000" spc="-55">
                <a:latin typeface="Cambria Math"/>
                <a:cs typeface="Cambria Math"/>
              </a:rPr>
              <a:t> </a:t>
            </a:r>
            <a:r>
              <a:rPr dirty="0" sz="2000" spc="-10">
                <a:latin typeface="Cambria Math"/>
                <a:cs typeface="Cambria Math"/>
              </a:rPr>
              <a:t>восстановления;</a:t>
            </a:r>
            <a:endParaRPr sz="2000">
              <a:latin typeface="Cambria Math"/>
              <a:cs typeface="Cambria Math"/>
            </a:endParaRPr>
          </a:p>
          <a:p>
            <a:pPr marL="608330">
              <a:lnSpc>
                <a:spcPts val="2380"/>
              </a:lnSpc>
              <a:spcBef>
                <a:spcPts val="10"/>
              </a:spcBef>
              <a:tabLst>
                <a:tab pos="1308100" algn="l"/>
              </a:tabLst>
            </a:pPr>
            <a:r>
              <a:rPr dirty="0" sz="2000">
                <a:latin typeface="Cambria Math"/>
                <a:cs typeface="Cambria Math"/>
              </a:rPr>
              <a:t>𝑁</a:t>
            </a:r>
            <a:r>
              <a:rPr dirty="0" baseline="-15325" sz="2175">
                <a:latin typeface="Cambria Math"/>
                <a:cs typeface="Cambria Math"/>
              </a:rPr>
              <a:t>𝑟</a:t>
            </a:r>
            <a:r>
              <a:rPr dirty="0" baseline="-15325" sz="2175" spc="165">
                <a:latin typeface="Cambria Math"/>
                <a:cs typeface="Cambria Math"/>
              </a:rPr>
              <a:t>  </a:t>
            </a:r>
            <a:r>
              <a:rPr dirty="0" sz="2000" spc="-50">
                <a:latin typeface="Cambria Math"/>
                <a:cs typeface="Cambria Math"/>
              </a:rPr>
              <a:t>𝜋</a:t>
            </a:r>
            <a:r>
              <a:rPr dirty="0" sz="2000">
                <a:latin typeface="Cambria Math"/>
                <a:cs typeface="Cambria Math"/>
              </a:rPr>
              <a:t>	–</a:t>
            </a:r>
            <a:r>
              <a:rPr dirty="0" sz="2000" spc="-3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количество</a:t>
            </a:r>
            <a:r>
              <a:rPr dirty="0" sz="2000" spc="-5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восстановлений</a:t>
            </a:r>
            <a:r>
              <a:rPr dirty="0" sz="2000" spc="-4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при</a:t>
            </a:r>
            <a:r>
              <a:rPr dirty="0" sz="2000" spc="-3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стратегии</a:t>
            </a:r>
            <a:r>
              <a:rPr dirty="0" sz="2000" spc="37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𝜋</a:t>
            </a:r>
            <a:r>
              <a:rPr dirty="0" sz="2000" spc="10">
                <a:latin typeface="Cambria Math"/>
                <a:cs typeface="Cambria Math"/>
              </a:rPr>
              <a:t> </a:t>
            </a:r>
            <a:r>
              <a:rPr dirty="0" sz="2000" spc="-50">
                <a:latin typeface="Cambria Math"/>
                <a:cs typeface="Cambria Math"/>
              </a:rPr>
              <a:t>;</a:t>
            </a:r>
            <a:endParaRPr sz="2000">
              <a:latin typeface="Cambria Math"/>
              <a:cs typeface="Cambria Math"/>
            </a:endParaRPr>
          </a:p>
          <a:p>
            <a:pPr marL="608330">
              <a:lnSpc>
                <a:spcPts val="2380"/>
              </a:lnSpc>
            </a:pPr>
            <a:r>
              <a:rPr dirty="0" sz="2000">
                <a:latin typeface="Cambria Math"/>
                <a:cs typeface="Cambria Math"/>
              </a:rPr>
              <a:t>𝐶</a:t>
            </a:r>
            <a:r>
              <a:rPr dirty="0" baseline="-15325" sz="2175">
                <a:latin typeface="Cambria Math"/>
                <a:cs typeface="Cambria Math"/>
              </a:rPr>
              <a:t>𝑓</a:t>
            </a:r>
            <a:r>
              <a:rPr dirty="0" baseline="-15325" sz="2175" spc="209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–</a:t>
            </a:r>
            <a:r>
              <a:rPr dirty="0" sz="2000" spc="-7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коэффициент</a:t>
            </a:r>
            <a:r>
              <a:rPr dirty="0" sz="2000" spc="-8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топливного</a:t>
            </a:r>
            <a:r>
              <a:rPr dirty="0" sz="2000" spc="-100">
                <a:latin typeface="Cambria Math"/>
                <a:cs typeface="Cambria Math"/>
              </a:rPr>
              <a:t> </a:t>
            </a:r>
            <a:r>
              <a:rPr dirty="0" sz="2000" spc="-10">
                <a:latin typeface="Cambria Math"/>
                <a:cs typeface="Cambria Math"/>
              </a:rPr>
              <a:t>штрафа;</a:t>
            </a:r>
            <a:endParaRPr sz="2000">
              <a:latin typeface="Cambria Math"/>
              <a:cs typeface="Cambria Math"/>
            </a:endParaRPr>
          </a:p>
          <a:p>
            <a:pPr marL="608330">
              <a:lnSpc>
                <a:spcPct val="100000"/>
              </a:lnSpc>
              <a:spcBef>
                <a:spcPts val="225"/>
              </a:spcBef>
            </a:pPr>
            <a:r>
              <a:rPr dirty="0" sz="2000">
                <a:latin typeface="Cambria Math"/>
                <a:cs typeface="Cambria Math"/>
              </a:rPr>
              <a:t>𝐶</a:t>
            </a:r>
            <a:r>
              <a:rPr dirty="0" baseline="-15325" sz="2175">
                <a:latin typeface="Cambria Math"/>
                <a:cs typeface="Cambria Math"/>
              </a:rPr>
              <a:t>𝑠</a:t>
            </a:r>
            <a:r>
              <a:rPr dirty="0" baseline="-15325" sz="2175" spc="307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–</a:t>
            </a:r>
            <a:r>
              <a:rPr dirty="0" sz="2000" spc="-30">
                <a:latin typeface="Cambria Math"/>
                <a:cs typeface="Cambria Math"/>
              </a:rPr>
              <a:t> </a:t>
            </a:r>
            <a:r>
              <a:rPr dirty="0" sz="2000" spc="-10">
                <a:latin typeface="Cambria Math"/>
                <a:cs typeface="Cambria Math"/>
              </a:rPr>
              <a:t>амортизационные</a:t>
            </a:r>
            <a:r>
              <a:rPr dirty="0" sz="2000" spc="-7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затраты</a:t>
            </a:r>
            <a:r>
              <a:rPr dirty="0" sz="2000" spc="-2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на</a:t>
            </a:r>
            <a:r>
              <a:rPr dirty="0" sz="2000" spc="-2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запасные</a:t>
            </a:r>
            <a:r>
              <a:rPr dirty="0" sz="2000" spc="-40">
                <a:latin typeface="Cambria Math"/>
                <a:cs typeface="Cambria Math"/>
              </a:rPr>
              <a:t> </a:t>
            </a:r>
            <a:r>
              <a:rPr dirty="0" sz="2000" spc="-10">
                <a:latin typeface="Cambria Math"/>
                <a:cs typeface="Cambria Math"/>
              </a:rPr>
              <a:t>лопатки.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91770">
              <a:lnSpc>
                <a:spcPts val="2380"/>
              </a:lnSpc>
            </a:pPr>
            <a:fld id="{81D60167-4931-47E6-BA6A-407CBD079E47}" type="slidenum">
              <a:rPr dirty="0" spc="-50"/>
              <a:t>7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5665" y="6464046"/>
            <a:ext cx="4766945" cy="0"/>
          </a:xfrm>
          <a:custGeom>
            <a:avLst/>
            <a:gdLst/>
            <a:ahLst/>
            <a:cxnLst/>
            <a:rect l="l" t="t" r="r" b="b"/>
            <a:pathLst>
              <a:path w="4766945" h="0">
                <a:moveTo>
                  <a:pt x="0" y="0"/>
                </a:moveTo>
                <a:lnTo>
                  <a:pt x="4766691" y="0"/>
                </a:lnTo>
              </a:path>
            </a:pathLst>
          </a:custGeom>
          <a:ln w="7620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9737" rIns="0" bIns="0" rtlCol="0" vert="horz">
            <a:spAutoFit/>
          </a:bodyPr>
          <a:lstStyle/>
          <a:p>
            <a:pPr marL="700405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000000"/>
                </a:solidFill>
              </a:rPr>
              <a:t>Диаграмма</a:t>
            </a:r>
            <a:r>
              <a:rPr dirty="0" sz="3600" spc="-50">
                <a:solidFill>
                  <a:srgbClr val="000000"/>
                </a:solidFill>
              </a:rPr>
              <a:t> </a:t>
            </a:r>
            <a:r>
              <a:rPr dirty="0" sz="3600">
                <a:solidFill>
                  <a:srgbClr val="000000"/>
                </a:solidFill>
              </a:rPr>
              <a:t>варианта</a:t>
            </a:r>
            <a:r>
              <a:rPr dirty="0" sz="3600" spc="-45">
                <a:solidFill>
                  <a:srgbClr val="000000"/>
                </a:solidFill>
              </a:rPr>
              <a:t> </a:t>
            </a:r>
            <a:r>
              <a:rPr dirty="0" sz="3600" spc="-10">
                <a:solidFill>
                  <a:srgbClr val="000000"/>
                </a:solidFill>
              </a:rPr>
              <a:t>использования</a:t>
            </a:r>
            <a:endParaRPr sz="36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0683" y="1293875"/>
            <a:ext cx="8243138" cy="427987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91770">
              <a:lnSpc>
                <a:spcPts val="2380"/>
              </a:lnSpc>
            </a:pPr>
            <a:fld id="{81D60167-4931-47E6-BA6A-407CBD079E47}" type="slidenum">
              <a:rPr dirty="0" spc="-50"/>
              <a:t>7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5665" y="6595109"/>
            <a:ext cx="4766945" cy="0"/>
          </a:xfrm>
          <a:custGeom>
            <a:avLst/>
            <a:gdLst/>
            <a:ahLst/>
            <a:cxnLst/>
            <a:rect l="l" t="t" r="r" b="b"/>
            <a:pathLst>
              <a:path w="4766945" h="0">
                <a:moveTo>
                  <a:pt x="0" y="0"/>
                </a:moveTo>
                <a:lnTo>
                  <a:pt x="4766691" y="0"/>
                </a:lnTo>
              </a:path>
            </a:pathLst>
          </a:custGeom>
          <a:ln w="7620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885314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000000"/>
                </a:solidFill>
              </a:rPr>
              <a:t>Диаграмма</a:t>
            </a:r>
            <a:r>
              <a:rPr dirty="0" sz="3600" spc="-80">
                <a:solidFill>
                  <a:srgbClr val="000000"/>
                </a:solidFill>
              </a:rPr>
              <a:t> </a:t>
            </a:r>
            <a:r>
              <a:rPr dirty="0" sz="3600" spc="-10">
                <a:solidFill>
                  <a:srgbClr val="000000"/>
                </a:solidFill>
              </a:rPr>
              <a:t>деятельности</a:t>
            </a:r>
            <a:endParaRPr sz="36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8488" y="589787"/>
            <a:ext cx="7046975" cy="682142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 spc="-25"/>
              <a:t>11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5665" y="6595109"/>
            <a:ext cx="4766945" cy="0"/>
          </a:xfrm>
          <a:custGeom>
            <a:avLst/>
            <a:gdLst/>
            <a:ahLst/>
            <a:cxnLst/>
            <a:rect l="l" t="t" r="r" b="b"/>
            <a:pathLst>
              <a:path w="4766945" h="0">
                <a:moveTo>
                  <a:pt x="0" y="0"/>
                </a:moveTo>
                <a:lnTo>
                  <a:pt x="4766691" y="0"/>
                </a:lnTo>
              </a:path>
            </a:pathLst>
          </a:custGeom>
          <a:ln w="7620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00531" y="58039"/>
            <a:ext cx="8882380" cy="11233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91535" marR="5080" indent="-3379470">
              <a:lnSpc>
                <a:spcPct val="100000"/>
              </a:lnSpc>
              <a:spcBef>
                <a:spcPts val="100"/>
              </a:spcBef>
            </a:pPr>
            <a:r>
              <a:rPr dirty="0" sz="3600" spc="-25">
                <a:solidFill>
                  <a:srgbClr val="000000"/>
                </a:solidFill>
              </a:rPr>
              <a:t>Моделирование</a:t>
            </a:r>
            <a:r>
              <a:rPr dirty="0" sz="3600" spc="-165">
                <a:solidFill>
                  <a:srgbClr val="000000"/>
                </a:solidFill>
              </a:rPr>
              <a:t> </a:t>
            </a:r>
            <a:r>
              <a:rPr dirty="0" sz="3600">
                <a:solidFill>
                  <a:srgbClr val="000000"/>
                </a:solidFill>
              </a:rPr>
              <a:t>стратегий</a:t>
            </a:r>
            <a:r>
              <a:rPr dirty="0" sz="3600" spc="-190">
                <a:solidFill>
                  <a:srgbClr val="000000"/>
                </a:solidFill>
              </a:rPr>
              <a:t> </a:t>
            </a:r>
            <a:r>
              <a:rPr dirty="0" sz="3600" spc="-10">
                <a:solidFill>
                  <a:srgbClr val="000000"/>
                </a:solidFill>
              </a:rPr>
              <a:t>восстановления покрытия</a:t>
            </a:r>
            <a:endParaRPr sz="36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743650"/>
            <a:ext cx="5879591" cy="3782373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638800" y="2184526"/>
          <a:ext cx="4490084" cy="48806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0455"/>
                <a:gridCol w="1100455"/>
                <a:gridCol w="1100455"/>
                <a:gridCol w="1100454"/>
              </a:tblGrid>
              <a:tr h="65341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Показатель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Консервативн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ая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(75%)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Оптимальная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(70%)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Агрессивная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(65%)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37565">
                <a:tc>
                  <a:txBody>
                    <a:bodyPr/>
                    <a:lstStyle/>
                    <a:p>
                      <a:pPr marL="92075" marR="31305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Пороговая толщина покрытия,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мкм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150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140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130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marL="92075" marR="9588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Коэффициент готовности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0,9574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±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0,0007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0,9579 </a:t>
                      </a:r>
                      <a:r>
                        <a:rPr dirty="0" sz="1200" spc="-50">
                          <a:latin typeface="Calibri"/>
                          <a:cs typeface="Calibri"/>
                        </a:rPr>
                        <a:t>±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0,0006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0,9584 </a:t>
                      </a:r>
                      <a:r>
                        <a:rPr dirty="0" sz="1200" spc="-50">
                          <a:latin typeface="Calibri"/>
                          <a:cs typeface="Calibri"/>
                        </a:rPr>
                        <a:t>±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0,0004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05205">
                <a:tc>
                  <a:txBody>
                    <a:bodyPr/>
                    <a:lstStyle/>
                    <a:p>
                      <a:pPr marL="92075" marR="4591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Среднее число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восстановлен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ий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за</a:t>
                      </a:r>
                      <a:r>
                        <a:rPr dirty="0" sz="12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25 000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ч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7,1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±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2,2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5,6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±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1,8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4,0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±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1,2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marL="92075" marR="9271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Относительн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ые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затраты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на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восстановлен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ие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1,000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(базовые)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0,799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0,554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22350">
                <a:tc>
                  <a:txBody>
                    <a:bodyPr/>
                    <a:lstStyle/>
                    <a:p>
                      <a:pPr marL="92075" marR="34036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Экономия затрат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just" marL="92075" marR="108585">
                        <a:lnSpc>
                          <a:spcPct val="100000"/>
                        </a:lnSpc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относительно консервативн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ой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-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20,1%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44,6%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 spc="-25"/>
              <a:t>11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5859017" y="1395729"/>
            <a:ext cx="3961129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Times New Roman"/>
                <a:cs typeface="Times New Roman"/>
              </a:rPr>
              <a:t>Таблица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1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–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Сравнение</a:t>
            </a:r>
            <a:r>
              <a:rPr dirty="0" sz="1600" spc="-10">
                <a:latin typeface="Times New Roman"/>
                <a:cs typeface="Times New Roman"/>
              </a:rPr>
              <a:t> стратегий</a:t>
            </a:r>
            <a:endParaRPr sz="16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dirty="0" sz="1600">
                <a:latin typeface="Times New Roman"/>
                <a:cs typeface="Times New Roman"/>
              </a:rPr>
              <a:t>восстановления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защитных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покрытий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лопаток </a:t>
            </a:r>
            <a:r>
              <a:rPr dirty="0" sz="1600" spc="-25">
                <a:latin typeface="Times New Roman"/>
                <a:cs typeface="Times New Roman"/>
              </a:rPr>
              <a:t>ГТД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5665" y="6464046"/>
            <a:ext cx="4766945" cy="0"/>
          </a:xfrm>
          <a:custGeom>
            <a:avLst/>
            <a:gdLst/>
            <a:ahLst/>
            <a:cxnLst/>
            <a:rect l="l" t="t" r="r" b="b"/>
            <a:pathLst>
              <a:path w="4766945" h="0">
                <a:moveTo>
                  <a:pt x="0" y="0"/>
                </a:moveTo>
                <a:lnTo>
                  <a:pt x="4766691" y="0"/>
                </a:lnTo>
              </a:path>
            </a:pathLst>
          </a:custGeom>
          <a:ln w="7620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645411" y="452755"/>
            <a:ext cx="6993255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Расчёт</a:t>
            </a:r>
            <a:r>
              <a:rPr dirty="0" spc="-1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затрат</a:t>
            </a:r>
            <a:r>
              <a:rPr dirty="0" spc="-114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на</a:t>
            </a:r>
            <a:r>
              <a:rPr dirty="0" spc="-10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реализацию</a:t>
            </a:r>
            <a:r>
              <a:rPr dirty="0" spc="-10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проекта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 spc="-25"/>
              <a:t>11</a:t>
            </a:fld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00811" y="1093215"/>
          <a:ext cx="9159875" cy="4673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99154"/>
                <a:gridCol w="2825750"/>
                <a:gridCol w="2846704"/>
              </a:tblGrid>
              <a:tr h="28638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Статьи</a:t>
                      </a:r>
                      <a:r>
                        <a:rPr dirty="0" sz="14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затрат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Затраты,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руб.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Удельный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вес,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%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9118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Расходы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по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заработной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плате,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в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том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числе: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629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455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82,5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638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основная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заработная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плата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524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546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68,8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638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дополнительная</a:t>
                      </a:r>
                      <a:r>
                        <a:rPr dirty="0" sz="14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заработная</a:t>
                      </a:r>
                      <a:r>
                        <a:rPr dirty="0" sz="14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плата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(20%)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104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909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13,7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638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Производственные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затраты,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в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том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числе: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438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1,1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9118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амортизация</a:t>
                      </a:r>
                      <a:r>
                        <a:rPr dirty="0" sz="1400" spc="3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ноутбука</a:t>
                      </a:r>
                      <a:r>
                        <a:rPr dirty="0" sz="1400" spc="3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(184</a:t>
                      </a:r>
                      <a:r>
                        <a:rPr dirty="0" sz="1400" spc="3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дн.,</a:t>
                      </a:r>
                      <a:r>
                        <a:rPr dirty="0" sz="1400" spc="3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Сбал</a:t>
                      </a:r>
                      <a:r>
                        <a:rPr dirty="0" sz="1400" spc="3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66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950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руб.,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20%/год)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750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0,9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9118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затраты</a:t>
                      </a:r>
                      <a:r>
                        <a:rPr dirty="0" sz="1400" spc="1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на</a:t>
                      </a:r>
                      <a:r>
                        <a:rPr dirty="0" sz="140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содержание</a:t>
                      </a:r>
                      <a:r>
                        <a:rPr dirty="0" sz="1400" spc="1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ноутбука</a:t>
                      </a:r>
                      <a:r>
                        <a:rPr dirty="0" sz="140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(5%/год,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пропорц.)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688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0,2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Непроизводственные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затраты,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в</a:t>
                      </a:r>
                      <a:r>
                        <a:rPr dirty="0" sz="1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том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числе: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124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909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16,4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638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Техническая</a:t>
                      </a:r>
                      <a:r>
                        <a:rPr dirty="0" sz="14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поддержка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20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000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2,6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9118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60"/>
                        </a:spcBef>
                        <a:tabLst>
                          <a:tab pos="1047115" algn="l"/>
                          <a:tab pos="1798320" algn="l"/>
                          <a:tab pos="2313305" algn="l"/>
                          <a:tab pos="2609215" algn="l"/>
                        </a:tabLst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Накладные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расходы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(20%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от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основной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заработной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платы)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104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909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13,8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638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ИТОГО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762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802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100,0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46"/>
            <a:ext cx="10070592" cy="756056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46023" rIns="0" bIns="0" rtlCol="0" vert="horz">
            <a:spAutoFit/>
          </a:bodyPr>
          <a:lstStyle/>
          <a:p>
            <a:pPr marL="300863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ЗАКЛЮЧЕНИЕ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 spc="-25"/>
              <a:t>11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1151940" y="2130933"/>
            <a:ext cx="7999095" cy="2494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4495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В</a:t>
            </a:r>
            <a:r>
              <a:rPr dirty="0" sz="1800" spc="45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ходе</a:t>
            </a:r>
            <a:r>
              <a:rPr dirty="0" sz="1800" spc="45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исследования</a:t>
            </a:r>
            <a:r>
              <a:rPr dirty="0" sz="1800" spc="55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разработана</a:t>
            </a:r>
            <a:r>
              <a:rPr dirty="0" sz="1800" spc="5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математическая</a:t>
            </a:r>
            <a:r>
              <a:rPr dirty="0" sz="1800" spc="45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модель</a:t>
            </a:r>
            <a:r>
              <a:rPr dirty="0" sz="1800" spc="45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деградации</a:t>
            </a:r>
            <a:r>
              <a:rPr dirty="0" sz="1800" spc="55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dirty="0" sz="1800" spc="-50">
                <a:solidFill>
                  <a:srgbClr val="FFFFFF"/>
                </a:solidFill>
                <a:latin typeface="Times New Roman"/>
                <a:cs typeface="Times New Roman"/>
              </a:rPr>
              <a:t>и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восстановления</a:t>
            </a:r>
            <a:r>
              <a:rPr dirty="0" sz="1800" spc="3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защитных</a:t>
            </a:r>
            <a:r>
              <a:rPr dirty="0" sz="1800" spc="4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покрытий</a:t>
            </a:r>
            <a:r>
              <a:rPr dirty="0" sz="1800" spc="3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лопаток</a:t>
            </a:r>
            <a:r>
              <a:rPr dirty="0" sz="1800" spc="4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ГТД.</a:t>
            </a:r>
            <a:r>
              <a:rPr dirty="0" sz="1800" spc="3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Выполнено</a:t>
            </a:r>
            <a:r>
              <a:rPr dirty="0" sz="1800" spc="3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imes New Roman"/>
                <a:cs typeface="Times New Roman"/>
              </a:rPr>
              <a:t>имитационное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моделирование</a:t>
            </a:r>
            <a:r>
              <a:rPr dirty="0" sz="1800" spc="415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и</a:t>
            </a:r>
            <a:r>
              <a:rPr dirty="0" sz="1800" spc="425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сравнительный</a:t>
            </a:r>
            <a:r>
              <a:rPr dirty="0" sz="1800" spc="425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анализ</a:t>
            </a:r>
            <a:r>
              <a:rPr dirty="0" sz="1800" spc="425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трёх</a:t>
            </a:r>
            <a:r>
              <a:rPr dirty="0" sz="1800" spc="42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подходов</a:t>
            </a:r>
            <a:r>
              <a:rPr dirty="0" sz="1800" spc="425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по</a:t>
            </a:r>
            <a:r>
              <a:rPr dirty="0" sz="1800" spc="42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dirty="0" sz="1800" spc="-10">
                <a:solidFill>
                  <a:srgbClr val="FFFFFF"/>
                </a:solidFill>
                <a:latin typeface="Times New Roman"/>
                <a:cs typeface="Times New Roman"/>
              </a:rPr>
              <a:t>критериям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надёжности</a:t>
            </a:r>
            <a:r>
              <a:rPr dirty="0" sz="18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и </a:t>
            </a:r>
            <a:r>
              <a:rPr dirty="0" sz="1800" spc="-10">
                <a:solidFill>
                  <a:srgbClr val="FFFFFF"/>
                </a:solidFill>
                <a:latin typeface="Times New Roman"/>
                <a:cs typeface="Times New Roman"/>
              </a:rPr>
              <a:t>экономических</a:t>
            </a:r>
            <a:r>
              <a:rPr dirty="0" sz="1800" spc="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imes New Roman"/>
                <a:cs typeface="Times New Roman"/>
              </a:rPr>
              <a:t>затрат.</a:t>
            </a:r>
            <a:endParaRPr sz="1800">
              <a:latin typeface="Times New Roman"/>
              <a:cs typeface="Times New Roman"/>
            </a:endParaRPr>
          </a:p>
          <a:p>
            <a:pPr algn="just" marL="12700" marR="8890" indent="44958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Установлено,</a:t>
            </a:r>
            <a:r>
              <a:rPr dirty="0" sz="1800" spc="10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что</a:t>
            </a:r>
            <a:r>
              <a:rPr dirty="0" sz="1800" spc="95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наиболее</a:t>
            </a:r>
            <a:r>
              <a:rPr dirty="0" sz="1800" spc="85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эффективна</a:t>
            </a:r>
            <a:r>
              <a:rPr dirty="0" sz="1800" spc="95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агрессивная</a:t>
            </a:r>
            <a:r>
              <a:rPr dirty="0" sz="1800" spc="9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стратегия</a:t>
            </a:r>
            <a:r>
              <a:rPr dirty="0" sz="1800" spc="95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(65%</a:t>
            </a:r>
            <a:r>
              <a:rPr dirty="0" sz="1800" spc="95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dirty="0" sz="1800" spc="-25">
                <a:solidFill>
                  <a:srgbClr val="FFFFFF"/>
                </a:solidFill>
                <a:latin typeface="Times New Roman"/>
                <a:cs typeface="Times New Roman"/>
              </a:rPr>
              <a:t>от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начальной</a:t>
            </a:r>
            <a:r>
              <a:rPr dirty="0" sz="1800" spc="484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толщины)</a:t>
            </a:r>
            <a:r>
              <a:rPr dirty="0" sz="1800" spc="49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—</a:t>
            </a:r>
            <a:r>
              <a:rPr dirty="0" sz="1800" spc="48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редкие,</a:t>
            </a:r>
            <a:r>
              <a:rPr dirty="0" sz="1800" spc="49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но</a:t>
            </a:r>
            <a:r>
              <a:rPr dirty="0" sz="1800" spc="48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своевременные</a:t>
            </a:r>
            <a:r>
              <a:rPr dirty="0" sz="1800" spc="484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dirty="0" sz="1800" spc="-10">
                <a:solidFill>
                  <a:srgbClr val="FFFFFF"/>
                </a:solidFill>
                <a:latin typeface="Times New Roman"/>
                <a:cs typeface="Times New Roman"/>
              </a:rPr>
              <a:t>профилактические вмешательства.</a:t>
            </a:r>
            <a:r>
              <a:rPr dirty="0" sz="18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Она</a:t>
            </a:r>
            <a:r>
              <a:rPr dirty="0" sz="18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imes New Roman"/>
                <a:cs typeface="Times New Roman"/>
              </a:rPr>
              <a:t>обеспечивает</a:t>
            </a:r>
            <a:r>
              <a:rPr dirty="0" sz="18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Times New Roman"/>
                <a:cs typeface="Times New Roman"/>
              </a:rPr>
              <a:t>экономию</a:t>
            </a:r>
            <a:r>
              <a:rPr dirty="0" sz="18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imes New Roman"/>
                <a:cs typeface="Times New Roman"/>
              </a:rPr>
              <a:t>затрат</a:t>
            </a:r>
            <a:r>
              <a:rPr dirty="0" sz="18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imes New Roman"/>
                <a:cs typeface="Times New Roman"/>
              </a:rPr>
              <a:t>44,6%.</a:t>
            </a:r>
            <a:endParaRPr sz="1800">
              <a:latin typeface="Times New Roman"/>
              <a:cs typeface="Times New Roman"/>
            </a:endParaRPr>
          </a:p>
          <a:p>
            <a:pPr algn="just" marL="12700" marR="5080" indent="44958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Практическая</a:t>
            </a:r>
            <a:r>
              <a:rPr dirty="0" sz="1800" spc="1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значимость:</a:t>
            </a:r>
            <a:r>
              <a:rPr dirty="0" sz="1800" spc="1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снижение</a:t>
            </a:r>
            <a:r>
              <a:rPr dirty="0" sz="1800" spc="1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эксплуатационных</a:t>
            </a:r>
            <a:r>
              <a:rPr dirty="0" sz="1800" spc="1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затрат,</a:t>
            </a:r>
            <a:r>
              <a:rPr dirty="0" sz="1800" spc="1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imes New Roman"/>
                <a:cs typeface="Times New Roman"/>
              </a:rPr>
              <a:t>повышение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безопасности</a:t>
            </a:r>
            <a:r>
              <a:rPr dirty="0" sz="18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полётов,</a:t>
            </a:r>
            <a:r>
              <a:rPr dirty="0" sz="1800" spc="-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объективизация</a:t>
            </a:r>
            <a:r>
              <a:rPr dirty="0" sz="18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выбора</a:t>
            </a:r>
            <a:r>
              <a:rPr dirty="0" sz="18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стратегий</a:t>
            </a:r>
            <a:r>
              <a:rPr dirty="0" sz="1800" spc="-1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imes New Roman"/>
                <a:cs typeface="Times New Roman"/>
              </a:rPr>
              <a:t>ремонта.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2026-06-16T19:06:19Z</dcterms:created>
  <dcterms:modified xsi:type="dcterms:W3CDTF">2026-06-16T19:06:19Z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2026-06-15T00:00:00Z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2026-06-16T00:00:00Z</vt:filetime>
  </property>
  <property fmtid="{D5CDD505-2E9C-101B-9397-08002B2CF9AE}" pid="6" name="Producer">
    <vt:lpwstr>www.ilovepdf.com</vt:lpwstr>
  </property>
</Properties>
</file>